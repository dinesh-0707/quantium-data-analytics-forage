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2E"/>
                </a:solidFill>
                <a:latin typeface="Arial"/>
              </a:defRPr>
            </a:pPr>
            <a:r>
              <a:rPr sz="1100" b="0" i="0" u="none" strike="noStrike">
                <a:solidFill>
                  <a:srgbClr val="1A1A2E"/>
                </a:solidFill>
                <a:latin typeface="Arial"/>
              </a:rPr>
              <a:t>Total Sales by Top 5 Segments</a:t>
            </a:r>
          </a:p>
        </c:rich>
      </c:tx>
      <c:layout/>
      <c:overlay val="0"/>
    </c:title>
    <c:autoTitleDeleted val="0"/>
    <c:plotArea>
      <c:layout/>
      <c:barChart>
        <c:barDir val="bar"/>
        <c:grouping val="clustered"/>
        <c:varyColors val="0"/>
        <c:ser>
          <c:idx val="0"/>
          <c:order val="0"/>
          <c:tx>
            <c:strRef>
              <c:f>Sheet1!$B$1</c:f>
              <c:strCache>
                <c:ptCount val="1"/>
                <c:pt idx="0">
                  <c:v>Total Sales ($)</c:v>
                </c:pt>
              </c:strCache>
            </c:strRef>
          </c:tx>
          <c:spPr>
            <a:solidFill>
              <a:srgbClr val="1D9E75"/>
            </a:solidFill>
            <a:effectLst/>
          </c:spPr>
          <c:invertIfNegative val="0"/>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dPt>
            <c:idx val="0"/>
            <c:invertIfNegative val="0"/>
            <c:bubble3D val="0"/>
            <c:spPr>
              <a:solidFill>
                <a:srgbClr val="1D9E75"/>
              </a:solidFill>
              <a:effectLst/>
            </c:spPr>
          </c:dPt>
          <c:dPt>
            <c:idx val="1"/>
            <c:invertIfNegative val="0"/>
            <c:bubble3D val="0"/>
            <c:spPr>
              <a:solidFill>
                <a:srgbClr val="378ADD"/>
              </a:solidFill>
              <a:effectLst/>
            </c:spPr>
          </c:dPt>
          <c:dPt>
            <c:idx val="2"/>
            <c:invertIfNegative val="0"/>
            <c:bubble3D val="0"/>
            <c:spPr>
              <a:solidFill>
                <a:srgbClr val="1D9E75"/>
              </a:solidFill>
              <a:effectLst/>
            </c:spPr>
          </c:dPt>
          <c:dPt>
            <c:idx val="3"/>
            <c:invertIfNegative val="0"/>
            <c:bubble3D val="0"/>
            <c:spPr>
              <a:solidFill>
                <a:srgbClr val="64748B"/>
              </a:solidFill>
              <a:effectLst/>
            </c:spPr>
          </c:dPt>
          <c:dPt>
            <c:idx val="4"/>
            <c:invertIfNegative val="0"/>
            <c:bubble3D val="0"/>
            <c:spPr>
              <a:solidFill>
                <a:srgbClr val="64748B"/>
              </a:solidFill>
              <a:effectLst/>
            </c:spPr>
          </c:dPt>
          <c:cat>
            <c:multiLvlStrRef>
              <c:f>Sheet1!$A$2:$A$6</c:f>
              <c:multiLvlStrCache>
                <c:ptCount val="5"/>
                <c:lvl>
                  <c:pt idx="0">
                    <c:v>Budget – Older Families</c:v>
                  </c:pt>
                  <c:pt idx="1">
                    <c:v>Mainstream – Young Singles/Couples</c:v>
                  </c:pt>
                  <c:pt idx="2">
                    <c:v>Mainstream – Retirees</c:v>
                  </c:pt>
                  <c:pt idx="3">
                    <c:v>Premium – Older Families</c:v>
                  </c:pt>
                  <c:pt idx="4">
                    <c:v>Budget – Young Families</c:v>
                  </c:pt>
                </c:lvl>
              </c:multiLvlStrCache>
            </c:multiLvlStrRef>
          </c:cat>
          <c:val>
            <c:numRef>
              <c:f>Sheet1!$B$2:$B$6</c:f>
              <c:numCache>
                <c:formatCode>General</c:formatCode>
                <c:ptCount val="5"/>
                <c:pt idx="0">
                  <c:v>168000</c:v>
                </c:pt>
                <c:pt idx="1">
                  <c:v>157000</c:v>
                </c:pt>
                <c:pt idx="2">
                  <c:v>143000</c:v>
                </c:pt>
                <c:pt idx="3">
                  <c:v>121000</c:v>
                </c:pt>
                <c:pt idx="4">
                  <c:v>108000</c:v>
                </c:pt>
              </c:numCache>
            </c:numRef>
          </c:val>
        </c:ser>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5F7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2E"/>
                </a:solidFill>
                <a:latin typeface="Arial"/>
              </a:defRPr>
            </a:pPr>
            <a:r>
              <a:rPr sz="1100" b="0" i="0" u="none" strike="noStrike">
                <a:solidFill>
                  <a:srgbClr val="1A1A2E"/>
                </a:solidFill>
                <a:latin typeface="Arial"/>
              </a:rPr>
              <a:t>Avg Price per Unit ($) by Life Stage &amp; Affluence</a:t>
            </a:r>
          </a:p>
        </c:rich>
      </c:tx>
      <c:layout/>
      <c:overlay val="0"/>
    </c:title>
    <c:autoTitleDeleted val="0"/>
    <c:plotArea>
      <c:layout/>
      <c:barChart>
        <c:barDir val="col"/>
        <c:grouping val="clustered"/>
        <c:varyColors val="0"/>
        <c:ser>
          <c:idx val="0"/>
          <c:order val="0"/>
          <c:tx>
            <c:strRef>
              <c:f>Sheet1!$B$1</c:f>
              <c:strCache>
                <c:ptCount val="1"/>
                <c:pt idx="0">
                  <c:v>Budget</c:v>
                </c:pt>
              </c:strCache>
            </c:strRef>
          </c:tx>
          <c:spPr>
            <a:solidFill>
              <a:srgbClr val="F4A62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Young
Singles/Couples</c:v>
                  </c:pt>
                  <c:pt idx="1">
                    <c:v>Midage
Singles/Couples</c:v>
                  </c:pt>
                  <c:pt idx="2">
                    <c:v>Retirees</c:v>
                  </c:pt>
                  <c:pt idx="3">
                    <c:v>Young Families</c:v>
                  </c:pt>
                  <c:pt idx="4">
                    <c:v>Older Families</c:v>
                  </c:pt>
                </c:lvl>
              </c:multiLvlStrCache>
            </c:multiLvlStrRef>
          </c:cat>
          <c:val>
            <c:numRef>
              <c:f>Sheet1!$B$2:$B$6</c:f>
              <c:numCache>
                <c:formatCode>General</c:formatCode>
                <c:ptCount val="5"/>
                <c:pt idx="0">
                  <c:v>3.38</c:v>
                </c:pt>
                <c:pt idx="1">
                  <c:v>3.41</c:v>
                </c:pt>
                <c:pt idx="2">
                  <c:v>3.35</c:v>
                </c:pt>
                <c:pt idx="3">
                  <c:v>3.33</c:v>
                </c:pt>
                <c:pt idx="4">
                  <c:v>3.3</c:v>
                </c:pt>
              </c:numCache>
            </c:numRef>
          </c:val>
        </c:ser>
        <c:ser>
          <c:idx val="1"/>
          <c:order val="1"/>
          <c:tx>
            <c:strRef>
              <c:f>Sheet1!$C$1</c:f>
              <c:strCache>
                <c:ptCount val="1"/>
                <c:pt idx="0">
                  <c:v>Mainstream</c:v>
                </c:pt>
              </c:strCache>
            </c:strRef>
          </c:tx>
          <c:spPr>
            <a:solidFill>
              <a:srgbClr val="378AD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Young
Singles/Couples</c:v>
                  </c:pt>
                  <c:pt idx="1">
                    <c:v>Midage
Singles/Couples</c:v>
                  </c:pt>
                  <c:pt idx="2">
                    <c:v>Retirees</c:v>
                  </c:pt>
                  <c:pt idx="3">
                    <c:v>Young Families</c:v>
                  </c:pt>
                  <c:pt idx="4">
                    <c:v>Older Families</c:v>
                  </c:pt>
                </c:lvl>
              </c:multiLvlStrCache>
            </c:multiLvlStrRef>
          </c:cat>
          <c:val>
            <c:numRef>
              <c:f>Sheet1!$C$2:$C$6</c:f>
              <c:numCache>
                <c:formatCode>General</c:formatCode>
                <c:ptCount val="5"/>
                <c:pt idx="0">
                  <c:v>3.82</c:v>
                </c:pt>
                <c:pt idx="1">
                  <c:v>3.71</c:v>
                </c:pt>
                <c:pt idx="2">
                  <c:v>3.69</c:v>
                </c:pt>
                <c:pt idx="3">
                  <c:v>3.55</c:v>
                </c:pt>
                <c:pt idx="4">
                  <c:v>3.48</c:v>
                </c:pt>
              </c:numCache>
            </c:numRef>
          </c:val>
        </c:ser>
        <c:ser>
          <c:idx val="2"/>
          <c:order val="2"/>
          <c:tx>
            <c:strRef>
              <c:f>Sheet1!$D$1</c:f>
              <c:strCache>
                <c:ptCount val="1"/>
                <c:pt idx="0">
                  <c:v>Premium</c:v>
                </c:pt>
              </c:strCache>
            </c:strRef>
          </c:tx>
          <c:spPr>
            <a:solidFill>
              <a:srgbClr val="1D9E7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Young
Singles/Couples</c:v>
                  </c:pt>
                  <c:pt idx="1">
                    <c:v>Midage
Singles/Couples</c:v>
                  </c:pt>
                  <c:pt idx="2">
                    <c:v>Retirees</c:v>
                  </c:pt>
                  <c:pt idx="3">
                    <c:v>Young Families</c:v>
                  </c:pt>
                  <c:pt idx="4">
                    <c:v>Older Families</c:v>
                  </c:pt>
                </c:lvl>
              </c:multiLvlStrCache>
            </c:multiLvlStrRef>
          </c:cat>
          <c:val>
            <c:numRef>
              <c:f>Sheet1!$D$2:$D$6</c:f>
              <c:numCache>
                <c:formatCode>General</c:formatCode>
                <c:ptCount val="5"/>
                <c:pt idx="0">
                  <c:v>3.76</c:v>
                </c:pt>
                <c:pt idx="1">
                  <c:v>3.7</c:v>
                </c:pt>
                <c:pt idx="2">
                  <c:v>3.64</c:v>
                </c:pt>
                <c:pt idx="3">
                  <c:v>3.52</c:v>
                </c:pt>
                <c:pt idx="4">
                  <c:v>3.46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5F7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D9E75"/>
          </a:solidFill>
          <a:ln w="12700">
            <a:solidFill>
              <a:srgbClr val="1D9E75"/>
            </a:solidFill>
            <a:prstDash val="solid"/>
          </a:ln>
        </p:spPr>
      </p:sp>
      <p:sp>
        <p:nvSpPr>
          <p:cNvPr id="3" name="Text 1"/>
          <p:cNvSpPr/>
          <p:nvPr/>
        </p:nvSpPr>
        <p:spPr>
          <a:xfrm>
            <a:off x="457200" y="502920"/>
            <a:ext cx="8229600" cy="457200"/>
          </a:xfrm>
          <a:prstGeom prst="rect">
            <a:avLst/>
          </a:prstGeom>
          <a:noFill/>
          <a:ln/>
        </p:spPr>
        <p:txBody>
          <a:bodyPr wrap="square" lIns="0" tIns="0" rIns="0" bIns="0" rtlCol="0" anchor="ctr"/>
          <a:lstStyle/>
          <a:p>
            <a:pPr indent="0" marL="0">
              <a:buNone/>
            </a:pPr>
            <a:r>
              <a:rPr lang="en-US" sz="1100" b="1" spc="800" kern="0" dirty="0">
                <a:solidFill>
                  <a:srgbClr val="1D9E75"/>
                </a:solidFill>
              </a:rPr>
              <a:t>QUANTIUM</a:t>
            </a:r>
            <a:endParaRPr lang="en-US" sz="1100" dirty="0"/>
          </a:p>
        </p:txBody>
      </p:sp>
      <p:sp>
        <p:nvSpPr>
          <p:cNvPr id="4" name="Text 2"/>
          <p:cNvSpPr/>
          <p:nvPr/>
        </p:nvSpPr>
        <p:spPr>
          <a:xfrm>
            <a:off x="457200" y="1051560"/>
            <a:ext cx="8229600" cy="822960"/>
          </a:xfrm>
          <a:prstGeom prst="rect">
            <a:avLst/>
          </a:prstGeom>
          <a:noFill/>
          <a:ln/>
        </p:spPr>
        <p:txBody>
          <a:bodyPr wrap="square" lIns="0" tIns="0" rIns="0" bIns="0" rtlCol="0" anchor="ctr"/>
          <a:lstStyle/>
          <a:p>
            <a:pPr indent="0" marL="0">
              <a:buNone/>
            </a:pPr>
            <a:r>
              <a:rPr lang="en-US" sz="4400" b="1" dirty="0">
                <a:solidFill>
                  <a:srgbClr val="FFFFFF"/>
                </a:solidFill>
              </a:rPr>
              <a:t>Category Review</a:t>
            </a:r>
            <a:endParaRPr lang="en-US" sz="4400" dirty="0"/>
          </a:p>
        </p:txBody>
      </p:sp>
      <p:sp>
        <p:nvSpPr>
          <p:cNvPr id="5" name="Text 3"/>
          <p:cNvSpPr/>
          <p:nvPr/>
        </p:nvSpPr>
        <p:spPr>
          <a:xfrm>
            <a:off x="457200" y="1828800"/>
            <a:ext cx="8229600" cy="777240"/>
          </a:xfrm>
          <a:prstGeom prst="rect">
            <a:avLst/>
          </a:prstGeom>
          <a:noFill/>
          <a:ln/>
        </p:spPr>
        <p:txBody>
          <a:bodyPr wrap="square" lIns="0" tIns="0" rIns="0" bIns="0" rtlCol="0" anchor="ctr"/>
          <a:lstStyle/>
          <a:p>
            <a:pPr indent="0" marL="0">
              <a:buNone/>
            </a:pPr>
            <a:r>
              <a:rPr lang="en-US" sz="4400" b="1" dirty="0">
                <a:solidFill>
                  <a:srgbClr val="1D9E75"/>
                </a:solidFill>
              </a:rPr>
              <a:t>Chips</a:t>
            </a:r>
            <a:endParaRPr lang="en-US" sz="4400" dirty="0"/>
          </a:p>
        </p:txBody>
      </p:sp>
      <p:sp>
        <p:nvSpPr>
          <p:cNvPr id="6" name="Shape 4"/>
          <p:cNvSpPr/>
          <p:nvPr/>
        </p:nvSpPr>
        <p:spPr>
          <a:xfrm>
            <a:off x="457200" y="2697480"/>
            <a:ext cx="1645920" cy="45720"/>
          </a:xfrm>
          <a:prstGeom prst="rect">
            <a:avLst/>
          </a:prstGeom>
          <a:solidFill>
            <a:srgbClr val="1D9E75"/>
          </a:solidFill>
          <a:ln w="12700">
            <a:solidFill>
              <a:srgbClr val="1D9E75"/>
            </a:solidFill>
            <a:prstDash val="solid"/>
          </a:ln>
        </p:spPr>
      </p:sp>
      <p:sp>
        <p:nvSpPr>
          <p:cNvPr id="7" name="Text 5"/>
          <p:cNvSpPr/>
          <p:nvPr/>
        </p:nvSpPr>
        <p:spPr>
          <a:xfrm>
            <a:off x="457200" y="2926080"/>
            <a:ext cx="8229600" cy="320040"/>
          </a:xfrm>
          <a:prstGeom prst="rect">
            <a:avLst/>
          </a:prstGeom>
          <a:noFill/>
          <a:ln/>
        </p:spPr>
        <p:txBody>
          <a:bodyPr wrap="square" lIns="0" tIns="0" rIns="0" bIns="0" rtlCol="0" anchor="ctr"/>
          <a:lstStyle/>
          <a:p>
            <a:pPr indent="0" marL="0">
              <a:buNone/>
            </a:pPr>
            <a:r>
              <a:rPr lang="en-US" sz="1200" dirty="0">
                <a:solidFill>
                  <a:srgbClr val="9CA3AF"/>
                </a:solidFill>
              </a:rPr>
              <a:t>Retail Analytics  |  Dinesh Navaneethan</a:t>
            </a:r>
            <a:endParaRPr lang="en-US" sz="1200" dirty="0"/>
          </a:p>
        </p:txBody>
      </p:sp>
      <p:sp>
        <p:nvSpPr>
          <p:cNvPr id="8" name="Text 6"/>
          <p:cNvSpPr/>
          <p:nvPr/>
        </p:nvSpPr>
        <p:spPr>
          <a:xfrm>
            <a:off x="457200" y="3337560"/>
            <a:ext cx="8229600" cy="274320"/>
          </a:xfrm>
          <a:prstGeom prst="rect">
            <a:avLst/>
          </a:prstGeom>
          <a:noFill/>
          <a:ln/>
        </p:spPr>
        <p:txBody>
          <a:bodyPr wrap="square" lIns="0" tIns="0" rIns="0" bIns="0" rtlCol="0" anchor="ctr"/>
          <a:lstStyle/>
          <a:p>
            <a:pPr indent="0" marL="0">
              <a:buNone/>
            </a:pPr>
            <a:r>
              <a:rPr lang="en-US" sz="1100" dirty="0">
                <a:solidFill>
                  <a:srgbClr val="6B7280"/>
                </a:solidFill>
              </a:rPr>
              <a:t>July 2025</a:t>
            </a:r>
            <a:endParaRPr lang="en-US" sz="1100" dirty="0"/>
          </a:p>
        </p:txBody>
      </p:sp>
      <p:sp>
        <p:nvSpPr>
          <p:cNvPr id="9" name="Shape 7"/>
          <p:cNvSpPr/>
          <p:nvPr/>
        </p:nvSpPr>
        <p:spPr>
          <a:xfrm>
            <a:off x="7315200" y="-365760"/>
            <a:ext cx="2286000" cy="2286000"/>
          </a:xfrm>
          <a:prstGeom prst="ellipse">
            <a:avLst/>
          </a:prstGeom>
          <a:solidFill>
            <a:srgbClr val="1D9E75">
              <a:alpha val="15000"/>
            </a:srgbClr>
          </a:solidFill>
          <a:ln w="12700">
            <a:solidFill>
              <a:srgbClr val="1D9E75"/>
            </a:solidFill>
            <a:prstDash val="solid"/>
          </a:ln>
        </p:spPr>
      </p:sp>
      <p:sp>
        <p:nvSpPr>
          <p:cNvPr id="10" name="Shape 8"/>
          <p:cNvSpPr/>
          <p:nvPr/>
        </p:nvSpPr>
        <p:spPr>
          <a:xfrm>
            <a:off x="7955280" y="274320"/>
            <a:ext cx="1371600" cy="1371600"/>
          </a:xfrm>
          <a:prstGeom prst="ellipse">
            <a:avLst/>
          </a:prstGeom>
          <a:solidFill>
            <a:srgbClr val="F4A623">
              <a:alpha val="20000"/>
            </a:srgbClr>
          </a:solidFill>
          <a:ln w="12700">
            <a:solidFill>
              <a:srgbClr val="F4A62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1A1A2E"/>
                </a:solidFill>
              </a:rPr>
              <a:t>Agenda</a:t>
            </a:r>
            <a:endParaRPr lang="en-US" sz="2800" dirty="0"/>
          </a:p>
        </p:txBody>
      </p:sp>
      <p:sp>
        <p:nvSpPr>
          <p:cNvPr id="3" name="Shape 1"/>
          <p:cNvSpPr/>
          <p:nvPr/>
        </p:nvSpPr>
        <p:spPr>
          <a:xfrm>
            <a:off x="457200" y="841248"/>
            <a:ext cx="8229600" cy="36576"/>
          </a:xfrm>
          <a:prstGeom prst="rect">
            <a:avLst/>
          </a:prstGeom>
          <a:solidFill>
            <a:srgbClr val="1D9E75"/>
          </a:solidFill>
          <a:ln w="12700">
            <a:solidFill>
              <a:srgbClr val="1D9E75"/>
            </a:solidFill>
            <a:prstDash val="solid"/>
          </a:ln>
        </p:spPr>
      </p:sp>
      <p:sp>
        <p:nvSpPr>
          <p:cNvPr id="4" name="Shape 2"/>
          <p:cNvSpPr/>
          <p:nvPr/>
        </p:nvSpPr>
        <p:spPr>
          <a:xfrm>
            <a:off x="457200" y="1005840"/>
            <a:ext cx="475488" cy="475488"/>
          </a:xfrm>
          <a:prstGeom prst="rect">
            <a:avLst/>
          </a:prstGeom>
          <a:solidFill>
            <a:srgbClr val="1D9E75"/>
          </a:solidFill>
          <a:ln w="12700">
            <a:solidFill>
              <a:srgbClr val="1D9E75"/>
            </a:solidFill>
            <a:prstDash val="solid"/>
          </a:ln>
        </p:spPr>
      </p:sp>
      <p:sp>
        <p:nvSpPr>
          <p:cNvPr id="5" name="Text 3"/>
          <p:cNvSpPr/>
          <p:nvPr/>
        </p:nvSpPr>
        <p:spPr>
          <a:xfrm>
            <a:off x="457200" y="100584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6" name="Text 4"/>
          <p:cNvSpPr/>
          <p:nvPr/>
        </p:nvSpPr>
        <p:spPr>
          <a:xfrm>
            <a:off x="1097280" y="1024128"/>
            <a:ext cx="7498080" cy="256032"/>
          </a:xfrm>
          <a:prstGeom prst="rect">
            <a:avLst/>
          </a:prstGeom>
          <a:noFill/>
          <a:ln/>
        </p:spPr>
        <p:txBody>
          <a:bodyPr wrap="square" lIns="0" tIns="0" rIns="0" bIns="0" rtlCol="0" anchor="ctr"/>
          <a:lstStyle/>
          <a:p>
            <a:pPr indent="0" marL="0">
              <a:buNone/>
            </a:pPr>
            <a:r>
              <a:rPr lang="en-US" sz="1300" b="1" dirty="0">
                <a:solidFill>
                  <a:srgbClr val="1A1A2E"/>
                </a:solidFill>
              </a:rPr>
              <a:t>Executive Summary</a:t>
            </a:r>
            <a:endParaRPr lang="en-US" sz="1300" dirty="0"/>
          </a:p>
        </p:txBody>
      </p:sp>
      <p:sp>
        <p:nvSpPr>
          <p:cNvPr id="7" name="Text 5"/>
          <p:cNvSpPr/>
          <p:nvPr/>
        </p:nvSpPr>
        <p:spPr>
          <a:xfrm>
            <a:off x="1097280" y="1261872"/>
            <a:ext cx="7498080" cy="201168"/>
          </a:xfrm>
          <a:prstGeom prst="rect">
            <a:avLst/>
          </a:prstGeom>
          <a:noFill/>
          <a:ln/>
        </p:spPr>
        <p:txBody>
          <a:bodyPr wrap="square" lIns="0" tIns="0" rIns="0" bIns="0" rtlCol="0" anchor="ctr"/>
          <a:lstStyle/>
          <a:p>
            <a:pPr indent="0" marL="0">
              <a:buNone/>
            </a:pPr>
            <a:r>
              <a:rPr lang="en-US" sz="950" dirty="0">
                <a:solidFill>
                  <a:srgbClr val="64748B"/>
                </a:solidFill>
              </a:rPr>
              <a:t>High-level findings and key callouts from the full analysis</a:t>
            </a:r>
            <a:endParaRPr lang="en-US" sz="950" dirty="0"/>
          </a:p>
        </p:txBody>
      </p:sp>
      <p:sp>
        <p:nvSpPr>
          <p:cNvPr id="8" name="Shape 6"/>
          <p:cNvSpPr/>
          <p:nvPr/>
        </p:nvSpPr>
        <p:spPr>
          <a:xfrm>
            <a:off x="457200" y="1755648"/>
            <a:ext cx="475488" cy="475488"/>
          </a:xfrm>
          <a:prstGeom prst="rect">
            <a:avLst/>
          </a:prstGeom>
          <a:solidFill>
            <a:srgbClr val="1D9E75"/>
          </a:solidFill>
          <a:ln w="12700">
            <a:solidFill>
              <a:srgbClr val="1D9E75"/>
            </a:solidFill>
            <a:prstDash val="solid"/>
          </a:ln>
        </p:spPr>
      </p:sp>
      <p:sp>
        <p:nvSpPr>
          <p:cNvPr id="9" name="Text 7"/>
          <p:cNvSpPr/>
          <p:nvPr/>
        </p:nvSpPr>
        <p:spPr>
          <a:xfrm>
            <a:off x="457200" y="17556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0" name="Text 8"/>
          <p:cNvSpPr/>
          <p:nvPr/>
        </p:nvSpPr>
        <p:spPr>
          <a:xfrm>
            <a:off x="1097280" y="1773936"/>
            <a:ext cx="7498080" cy="256032"/>
          </a:xfrm>
          <a:prstGeom prst="rect">
            <a:avLst/>
          </a:prstGeom>
          <a:noFill/>
          <a:ln/>
        </p:spPr>
        <p:txBody>
          <a:bodyPr wrap="square" lIns="0" tIns="0" rIns="0" bIns="0" rtlCol="0" anchor="ctr"/>
          <a:lstStyle/>
          <a:p>
            <a:pPr indent="0" marL="0">
              <a:buNone/>
            </a:pPr>
            <a:r>
              <a:rPr lang="en-US" sz="1300" b="1" dirty="0">
                <a:solidFill>
                  <a:srgbClr val="1A1A2E"/>
                </a:solidFill>
              </a:rPr>
              <a:t>Category Overview</a:t>
            </a:r>
            <a:endParaRPr lang="en-US" sz="1300" dirty="0"/>
          </a:p>
        </p:txBody>
      </p:sp>
      <p:sp>
        <p:nvSpPr>
          <p:cNvPr id="11" name="Text 9"/>
          <p:cNvSpPr/>
          <p:nvPr/>
        </p:nvSpPr>
        <p:spPr>
          <a:xfrm>
            <a:off x="1097280" y="2011680"/>
            <a:ext cx="7498080" cy="201168"/>
          </a:xfrm>
          <a:prstGeom prst="rect">
            <a:avLst/>
          </a:prstGeom>
          <a:noFill/>
          <a:ln/>
        </p:spPr>
        <p:txBody>
          <a:bodyPr wrap="square" lIns="0" tIns="0" rIns="0" bIns="0" rtlCol="0" anchor="ctr"/>
          <a:lstStyle/>
          <a:p>
            <a:pPr indent="0" marL="0">
              <a:buNone/>
            </a:pPr>
            <a:r>
              <a:rPr lang="en-US" sz="950" dirty="0">
                <a:solidFill>
                  <a:srgbClr val="64748B"/>
                </a:solidFill>
              </a:rPr>
              <a:t>Purchasing trends, customer segments and spend behaviour</a:t>
            </a:r>
            <a:endParaRPr lang="en-US" sz="950" dirty="0"/>
          </a:p>
        </p:txBody>
      </p:sp>
      <p:sp>
        <p:nvSpPr>
          <p:cNvPr id="12" name="Shape 10"/>
          <p:cNvSpPr/>
          <p:nvPr/>
        </p:nvSpPr>
        <p:spPr>
          <a:xfrm>
            <a:off x="457200" y="2505456"/>
            <a:ext cx="475488" cy="475488"/>
          </a:xfrm>
          <a:prstGeom prst="rect">
            <a:avLst/>
          </a:prstGeom>
          <a:solidFill>
            <a:srgbClr val="1D9E75"/>
          </a:solidFill>
          <a:ln w="12700">
            <a:solidFill>
              <a:srgbClr val="1D9E75"/>
            </a:solidFill>
            <a:prstDash val="solid"/>
          </a:ln>
        </p:spPr>
      </p:sp>
      <p:sp>
        <p:nvSpPr>
          <p:cNvPr id="13" name="Text 11"/>
          <p:cNvSpPr/>
          <p:nvPr/>
        </p:nvSpPr>
        <p:spPr>
          <a:xfrm>
            <a:off x="457200" y="250545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14" name="Text 12"/>
          <p:cNvSpPr/>
          <p:nvPr/>
        </p:nvSpPr>
        <p:spPr>
          <a:xfrm>
            <a:off x="1097280" y="2523744"/>
            <a:ext cx="7498080" cy="256032"/>
          </a:xfrm>
          <a:prstGeom prst="rect">
            <a:avLst/>
          </a:prstGeom>
          <a:noFill/>
          <a:ln/>
        </p:spPr>
        <p:txBody>
          <a:bodyPr wrap="square" lIns="0" tIns="0" rIns="0" bIns="0" rtlCol="0" anchor="ctr"/>
          <a:lstStyle/>
          <a:p>
            <a:pPr indent="0" marL="0">
              <a:buNone/>
            </a:pPr>
            <a:r>
              <a:rPr lang="en-US" sz="1300" b="1" dirty="0">
                <a:solidFill>
                  <a:srgbClr val="1A1A2E"/>
                </a:solidFill>
              </a:rPr>
              <a:t>Customer Segmentation</a:t>
            </a:r>
            <a:endParaRPr lang="en-US" sz="1300" dirty="0"/>
          </a:p>
        </p:txBody>
      </p:sp>
      <p:sp>
        <p:nvSpPr>
          <p:cNvPr id="15" name="Text 13"/>
          <p:cNvSpPr/>
          <p:nvPr/>
        </p:nvSpPr>
        <p:spPr>
          <a:xfrm>
            <a:off x="1097280" y="2761488"/>
            <a:ext cx="7498080" cy="201168"/>
          </a:xfrm>
          <a:prstGeom prst="rect">
            <a:avLst/>
          </a:prstGeom>
          <a:noFill/>
          <a:ln/>
        </p:spPr>
        <p:txBody>
          <a:bodyPr wrap="square" lIns="0" tIns="0" rIns="0" bIns="0" rtlCol="0" anchor="ctr"/>
          <a:lstStyle/>
          <a:p>
            <a:pPr indent="0" marL="0">
              <a:buNone/>
            </a:pPr>
            <a:r>
              <a:rPr lang="en-US" sz="950" dirty="0">
                <a:solidFill>
                  <a:srgbClr val="64748B"/>
                </a:solidFill>
              </a:rPr>
              <a:t>Who buys chips, how much they spend, and what drives it</a:t>
            </a:r>
            <a:endParaRPr lang="en-US" sz="950" dirty="0"/>
          </a:p>
        </p:txBody>
      </p:sp>
      <p:sp>
        <p:nvSpPr>
          <p:cNvPr id="16" name="Shape 14"/>
          <p:cNvSpPr/>
          <p:nvPr/>
        </p:nvSpPr>
        <p:spPr>
          <a:xfrm>
            <a:off x="457200" y="3255264"/>
            <a:ext cx="475488" cy="475488"/>
          </a:xfrm>
          <a:prstGeom prst="rect">
            <a:avLst/>
          </a:prstGeom>
          <a:solidFill>
            <a:srgbClr val="1D9E75"/>
          </a:solidFill>
          <a:ln w="12700">
            <a:solidFill>
              <a:srgbClr val="1D9E75"/>
            </a:solidFill>
            <a:prstDash val="solid"/>
          </a:ln>
        </p:spPr>
      </p:sp>
      <p:sp>
        <p:nvSpPr>
          <p:cNvPr id="17" name="Text 15"/>
          <p:cNvSpPr/>
          <p:nvPr/>
        </p:nvSpPr>
        <p:spPr>
          <a:xfrm>
            <a:off x="457200" y="325526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18" name="Text 16"/>
          <p:cNvSpPr/>
          <p:nvPr/>
        </p:nvSpPr>
        <p:spPr>
          <a:xfrm>
            <a:off x="1097280" y="3273552"/>
            <a:ext cx="7498080" cy="256032"/>
          </a:xfrm>
          <a:prstGeom prst="rect">
            <a:avLst/>
          </a:prstGeom>
          <a:noFill/>
          <a:ln/>
        </p:spPr>
        <p:txBody>
          <a:bodyPr wrap="square" lIns="0" tIns="0" rIns="0" bIns="0" rtlCol="0" anchor="ctr"/>
          <a:lstStyle/>
          <a:p>
            <a:pPr indent="0" marL="0">
              <a:buNone/>
            </a:pPr>
            <a:r>
              <a:rPr lang="en-US" sz="1300" b="1" dirty="0">
                <a:solidFill>
                  <a:srgbClr val="1A1A2E"/>
                </a:solidFill>
              </a:rPr>
              <a:t>Trial Store Performance</a:t>
            </a:r>
            <a:endParaRPr lang="en-US" sz="1300" dirty="0"/>
          </a:p>
        </p:txBody>
      </p:sp>
      <p:sp>
        <p:nvSpPr>
          <p:cNvPr id="19" name="Text 17"/>
          <p:cNvSpPr/>
          <p:nvPr/>
        </p:nvSpPr>
        <p:spPr>
          <a:xfrm>
            <a:off x="1097280" y="3511296"/>
            <a:ext cx="7498080" cy="201168"/>
          </a:xfrm>
          <a:prstGeom prst="rect">
            <a:avLst/>
          </a:prstGeom>
          <a:noFill/>
          <a:ln/>
        </p:spPr>
        <p:txBody>
          <a:bodyPr wrap="square" lIns="0" tIns="0" rIns="0" bIns="0" rtlCol="0" anchor="ctr"/>
          <a:lstStyle/>
          <a:p>
            <a:pPr indent="0" marL="0">
              <a:buNone/>
            </a:pPr>
            <a:r>
              <a:rPr lang="en-US" sz="950" dirty="0">
                <a:solidFill>
                  <a:srgbClr val="64748B"/>
                </a:solidFill>
              </a:rPr>
              <a:t>Control store selection and uplift testing results</a:t>
            </a:r>
            <a:endParaRPr lang="en-US" sz="950" dirty="0"/>
          </a:p>
        </p:txBody>
      </p:sp>
      <p:sp>
        <p:nvSpPr>
          <p:cNvPr id="20" name="Shape 18"/>
          <p:cNvSpPr/>
          <p:nvPr/>
        </p:nvSpPr>
        <p:spPr>
          <a:xfrm>
            <a:off x="457200" y="4005072"/>
            <a:ext cx="475488" cy="475488"/>
          </a:xfrm>
          <a:prstGeom prst="rect">
            <a:avLst/>
          </a:prstGeom>
          <a:solidFill>
            <a:srgbClr val="1D9E75"/>
          </a:solidFill>
          <a:ln w="12700">
            <a:solidFill>
              <a:srgbClr val="1D9E75"/>
            </a:solidFill>
            <a:prstDash val="solid"/>
          </a:ln>
        </p:spPr>
      </p:sp>
      <p:sp>
        <p:nvSpPr>
          <p:cNvPr id="21" name="Text 19"/>
          <p:cNvSpPr/>
          <p:nvPr/>
        </p:nvSpPr>
        <p:spPr>
          <a:xfrm>
            <a:off x="457200" y="40050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22" name="Text 20"/>
          <p:cNvSpPr/>
          <p:nvPr/>
        </p:nvSpPr>
        <p:spPr>
          <a:xfrm>
            <a:off x="1097280" y="4023360"/>
            <a:ext cx="7498080" cy="256032"/>
          </a:xfrm>
          <a:prstGeom prst="rect">
            <a:avLst/>
          </a:prstGeom>
          <a:noFill/>
          <a:ln/>
        </p:spPr>
        <p:txBody>
          <a:bodyPr wrap="square" lIns="0" tIns="0" rIns="0" bIns="0" rtlCol="0" anchor="ctr"/>
          <a:lstStyle/>
          <a:p>
            <a:pPr indent="0" marL="0">
              <a:buNone/>
            </a:pPr>
            <a:r>
              <a:rPr lang="en-US" sz="1300" b="1" dirty="0">
                <a:solidFill>
                  <a:srgbClr val="1A1A2E"/>
                </a:solidFill>
              </a:rPr>
              <a:t>Recommendations</a:t>
            </a:r>
            <a:endParaRPr lang="en-US" sz="1300" dirty="0"/>
          </a:p>
        </p:txBody>
      </p:sp>
      <p:sp>
        <p:nvSpPr>
          <p:cNvPr id="23" name="Text 21"/>
          <p:cNvSpPr/>
          <p:nvPr/>
        </p:nvSpPr>
        <p:spPr>
          <a:xfrm>
            <a:off x="1097280" y="4261104"/>
            <a:ext cx="7498080" cy="201168"/>
          </a:xfrm>
          <a:prstGeom prst="rect">
            <a:avLst/>
          </a:prstGeom>
          <a:noFill/>
          <a:ln/>
        </p:spPr>
        <p:txBody>
          <a:bodyPr wrap="square" lIns="0" tIns="0" rIns="0" bIns="0" rtlCol="0" anchor="ctr"/>
          <a:lstStyle/>
          <a:p>
            <a:pPr indent="0" marL="0">
              <a:buNone/>
            </a:pPr>
            <a:r>
              <a:rPr lang="en-US" sz="950" dirty="0">
                <a:solidFill>
                  <a:srgbClr val="64748B"/>
                </a:solidFill>
              </a:rPr>
              <a:t>Strategic actions for the next category review period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1A1A2E"/>
                </a:solidFill>
              </a:rPr>
              <a:t>Executive Summary</a:t>
            </a:r>
            <a:endParaRPr lang="en-US" sz="2800" dirty="0"/>
          </a:p>
        </p:txBody>
      </p:sp>
      <p:sp>
        <p:nvSpPr>
          <p:cNvPr id="3" name="Shape 1"/>
          <p:cNvSpPr/>
          <p:nvPr/>
        </p:nvSpPr>
        <p:spPr>
          <a:xfrm>
            <a:off x="457200" y="841248"/>
            <a:ext cx="8229600" cy="36576"/>
          </a:xfrm>
          <a:prstGeom prst="rect">
            <a:avLst/>
          </a:prstGeom>
          <a:solidFill>
            <a:srgbClr val="1D9E75"/>
          </a:solidFill>
          <a:ln w="12700">
            <a:solidFill>
              <a:srgbClr val="1D9E75"/>
            </a:solidFill>
            <a:prstDash val="solid"/>
          </a:ln>
        </p:spPr>
      </p:sp>
      <p:sp>
        <p:nvSpPr>
          <p:cNvPr id="4" name="Shape 2"/>
          <p:cNvSpPr/>
          <p:nvPr/>
        </p:nvSpPr>
        <p:spPr>
          <a:xfrm>
            <a:off x="457200" y="960120"/>
            <a:ext cx="8229600" cy="685800"/>
          </a:xfrm>
          <a:prstGeom prst="rect">
            <a:avLst/>
          </a:prstGeom>
          <a:solidFill>
            <a:srgbClr val="1A1A2E"/>
          </a:solidFill>
          <a:ln w="12700">
            <a:solidFill>
              <a:srgbClr val="1A1A2E"/>
            </a:solidFill>
            <a:prstDash val="solid"/>
          </a:ln>
        </p:spPr>
      </p:sp>
      <p:sp>
        <p:nvSpPr>
          <p:cNvPr id="5" name="Text 3"/>
          <p:cNvSpPr/>
          <p:nvPr/>
        </p:nvSpPr>
        <p:spPr>
          <a:xfrm>
            <a:off x="594360" y="987552"/>
            <a:ext cx="7955280" cy="640080"/>
          </a:xfrm>
          <a:prstGeom prst="rect">
            <a:avLst/>
          </a:prstGeom>
          <a:noFill/>
          <a:ln/>
        </p:spPr>
        <p:txBody>
          <a:bodyPr wrap="square" lIns="0" tIns="0" rIns="0" bIns="0" rtlCol="0" anchor="ctr"/>
          <a:lstStyle/>
          <a:p>
            <a:pPr indent="0" marL="0">
              <a:buNone/>
            </a:pPr>
            <a:r>
              <a:rPr lang="en-US" sz="1300" b="1" dirty="0">
                <a:solidFill>
                  <a:srgbClr val="FFFFFF"/>
                </a:solidFill>
              </a:rPr>
              <a:t>The new trial store layout drove a measurable uplift in chip sales and customer numbers — recommend full rollout.</a:t>
            </a:r>
            <a:endParaRPr lang="en-US" sz="1300" dirty="0"/>
          </a:p>
        </p:txBody>
      </p:sp>
      <p:sp>
        <p:nvSpPr>
          <p:cNvPr id="6" name="Shape 4"/>
          <p:cNvSpPr/>
          <p:nvPr/>
        </p:nvSpPr>
        <p:spPr>
          <a:xfrm>
            <a:off x="457200" y="1783080"/>
            <a:ext cx="4023360" cy="13716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457200" y="1783080"/>
            <a:ext cx="64008" cy="1371600"/>
          </a:xfrm>
          <a:prstGeom prst="rect">
            <a:avLst/>
          </a:prstGeom>
          <a:solidFill>
            <a:srgbClr val="1D9E75"/>
          </a:solidFill>
          <a:ln w="12700">
            <a:solidFill>
              <a:srgbClr val="1D9E75"/>
            </a:solidFill>
            <a:prstDash val="solid"/>
          </a:ln>
        </p:spPr>
      </p:sp>
      <p:sp>
        <p:nvSpPr>
          <p:cNvPr id="8" name="Text 6"/>
          <p:cNvSpPr/>
          <p:nvPr/>
        </p:nvSpPr>
        <p:spPr>
          <a:xfrm>
            <a:off x="594360" y="1856232"/>
            <a:ext cx="3840480" cy="256032"/>
          </a:xfrm>
          <a:prstGeom prst="rect">
            <a:avLst/>
          </a:prstGeom>
          <a:noFill/>
          <a:ln/>
        </p:spPr>
        <p:txBody>
          <a:bodyPr wrap="square" lIns="0" tIns="0" rIns="0" bIns="0" rtlCol="0" anchor="ctr"/>
          <a:lstStyle/>
          <a:p>
            <a:pPr indent="0" marL="0">
              <a:buNone/>
            </a:pPr>
            <a:r>
              <a:rPr lang="en-US" sz="1100" b="1" dirty="0">
                <a:solidFill>
                  <a:srgbClr val="1A1A2E"/>
                </a:solidFill>
              </a:rPr>
              <a:t>Task 1 — Category Analysis</a:t>
            </a:r>
            <a:endParaRPr lang="en-US" sz="1100" dirty="0"/>
          </a:p>
        </p:txBody>
      </p:sp>
      <p:sp>
        <p:nvSpPr>
          <p:cNvPr id="9" name="Text 7"/>
          <p:cNvSpPr/>
          <p:nvPr/>
        </p:nvSpPr>
        <p:spPr>
          <a:xfrm>
            <a:off x="594360" y="2103120"/>
            <a:ext cx="3840480" cy="987552"/>
          </a:xfrm>
          <a:prstGeom prst="rect">
            <a:avLst/>
          </a:prstGeom>
          <a:noFill/>
          <a:ln/>
        </p:spPr>
        <p:txBody>
          <a:bodyPr wrap="square" lIns="0" tIns="0" rIns="0" bIns="0" rtlCol="0" anchor="ctr"/>
          <a:lstStyle/>
          <a:p>
            <a:pPr indent="0" marL="0">
              <a:buNone/>
            </a:pPr>
            <a:r>
              <a:rPr lang="en-US" sz="950" dirty="0">
                <a:solidFill>
                  <a:srgbClr val="64748B"/>
                </a:solidFill>
              </a:rPr>
              <a:t>Budget–Older Families, Mainstream–Young Singles/Couples, and Mainstream–Retirees drive the highest chip sales. Mainstream Young Singles/Couples pay significantly more per unit (p &lt; 0.05) and over-index on premium brands (Tyrrells, Kettle).</a:t>
            </a:r>
            <a:endParaRPr lang="en-US" sz="950" dirty="0"/>
          </a:p>
        </p:txBody>
      </p:sp>
      <p:sp>
        <p:nvSpPr>
          <p:cNvPr id="10" name="Shape 8"/>
          <p:cNvSpPr/>
          <p:nvPr/>
        </p:nvSpPr>
        <p:spPr>
          <a:xfrm>
            <a:off x="4663440" y="1783080"/>
            <a:ext cx="4023360" cy="13716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4663440" y="1783080"/>
            <a:ext cx="64008" cy="1371600"/>
          </a:xfrm>
          <a:prstGeom prst="rect">
            <a:avLst/>
          </a:prstGeom>
          <a:solidFill>
            <a:srgbClr val="378ADD"/>
          </a:solidFill>
          <a:ln w="12700">
            <a:solidFill>
              <a:srgbClr val="378ADD"/>
            </a:solidFill>
            <a:prstDash val="solid"/>
          </a:ln>
        </p:spPr>
      </p:sp>
      <p:sp>
        <p:nvSpPr>
          <p:cNvPr id="12" name="Text 10"/>
          <p:cNvSpPr/>
          <p:nvPr/>
        </p:nvSpPr>
        <p:spPr>
          <a:xfrm>
            <a:off x="4800600" y="1856232"/>
            <a:ext cx="3840480" cy="256032"/>
          </a:xfrm>
          <a:prstGeom prst="rect">
            <a:avLst/>
          </a:prstGeom>
          <a:noFill/>
          <a:ln/>
        </p:spPr>
        <p:txBody>
          <a:bodyPr wrap="square" lIns="0" tIns="0" rIns="0" bIns="0" rtlCol="0" anchor="ctr"/>
          <a:lstStyle/>
          <a:p>
            <a:pPr indent="0" marL="0">
              <a:buNone/>
            </a:pPr>
            <a:r>
              <a:rPr lang="en-US" sz="1100" b="1" dirty="0">
                <a:solidFill>
                  <a:srgbClr val="1A1A2E"/>
                </a:solidFill>
              </a:rPr>
              <a:t>Task 2 — Trial Assessment</a:t>
            </a:r>
            <a:endParaRPr lang="en-US" sz="1100" dirty="0"/>
          </a:p>
        </p:txBody>
      </p:sp>
      <p:sp>
        <p:nvSpPr>
          <p:cNvPr id="13" name="Text 11"/>
          <p:cNvSpPr/>
          <p:nvPr/>
        </p:nvSpPr>
        <p:spPr>
          <a:xfrm>
            <a:off x="4800600" y="2103120"/>
            <a:ext cx="3840480" cy="987552"/>
          </a:xfrm>
          <a:prstGeom prst="rect">
            <a:avLst/>
          </a:prstGeom>
          <a:noFill/>
          <a:ln/>
        </p:spPr>
        <p:txBody>
          <a:bodyPr wrap="square" lIns="0" tIns="0" rIns="0" bIns="0" rtlCol="0" anchor="ctr"/>
          <a:lstStyle/>
          <a:p>
            <a:pPr indent="0" marL="0">
              <a:buNone/>
            </a:pPr>
            <a:r>
              <a:rPr lang="en-US" sz="950" dirty="0">
                <a:solidFill>
                  <a:srgbClr val="64748B"/>
                </a:solidFill>
              </a:rPr>
              <a:t>Trial stores 77, 86 and 88 were matched to statistically similar control stores. During the Feb–Apr 2019 trial period, two of three stores showed significant uplifts in both total sales and unique customer count (p &lt; 0.05).</a:t>
            </a:r>
            <a:endParaRPr lang="en-US" sz="950" dirty="0"/>
          </a:p>
        </p:txBody>
      </p:sp>
      <p:sp>
        <p:nvSpPr>
          <p:cNvPr id="14" name="Shape 12"/>
          <p:cNvSpPr/>
          <p:nvPr/>
        </p:nvSpPr>
        <p:spPr>
          <a:xfrm>
            <a:off x="457200" y="3337560"/>
            <a:ext cx="2560320" cy="1371600"/>
          </a:xfrm>
          <a:prstGeom prst="rect">
            <a:avLst/>
          </a:prstGeom>
          <a:solidFill>
            <a:srgbClr val="E8F5F0"/>
          </a:solidFill>
          <a:ln w="12700">
            <a:solidFill>
              <a:srgbClr val="D1EAE0"/>
            </a:solidFill>
            <a:prstDash val="solid"/>
          </a:ln>
          <a:effectLst>
            <a:outerShdw sx="100000" sy="100000" kx="0" ky="0" algn="bl" rotWithShape="0" blurRad="101600" dist="25400" dir="8100000">
              <a:srgbClr val="000000">
                <a:alpha val="10000"/>
              </a:srgbClr>
            </a:outerShdw>
          </a:effectLst>
        </p:spPr>
      </p:sp>
      <p:sp>
        <p:nvSpPr>
          <p:cNvPr id="15" name="Text 13"/>
          <p:cNvSpPr/>
          <p:nvPr/>
        </p:nvSpPr>
        <p:spPr>
          <a:xfrm>
            <a:off x="502920" y="3429000"/>
            <a:ext cx="2468880" cy="754380"/>
          </a:xfrm>
          <a:prstGeom prst="rect">
            <a:avLst/>
          </a:prstGeom>
          <a:noFill/>
          <a:ln/>
        </p:spPr>
        <p:txBody>
          <a:bodyPr wrap="square" lIns="0" tIns="0" rIns="0" bIns="0" rtlCol="0" anchor="ctr"/>
          <a:lstStyle/>
          <a:p>
            <a:pPr algn="ctr" indent="0" marL="0">
              <a:buNone/>
            </a:pPr>
            <a:r>
              <a:rPr lang="en-US" sz="2800" b="1" dirty="0">
                <a:solidFill>
                  <a:srgbClr val="1D9E75"/>
                </a:solidFill>
              </a:rPr>
              <a:t>3</a:t>
            </a:r>
            <a:endParaRPr lang="en-US" sz="2800" dirty="0"/>
          </a:p>
        </p:txBody>
      </p:sp>
      <p:sp>
        <p:nvSpPr>
          <p:cNvPr id="16" name="Text 14"/>
          <p:cNvSpPr/>
          <p:nvPr/>
        </p:nvSpPr>
        <p:spPr>
          <a:xfrm>
            <a:off x="502920" y="4133088"/>
            <a:ext cx="2468880" cy="521208"/>
          </a:xfrm>
          <a:prstGeom prst="rect">
            <a:avLst/>
          </a:prstGeom>
          <a:noFill/>
          <a:ln/>
        </p:spPr>
        <p:txBody>
          <a:bodyPr wrap="square" lIns="0" tIns="0" rIns="0" bIns="0" rtlCol="0" anchor="t"/>
          <a:lstStyle/>
          <a:p>
            <a:pPr algn="ctr" indent="0" marL="0">
              <a:buNone/>
            </a:pPr>
            <a:r>
              <a:rPr lang="en-US" sz="900" dirty="0">
                <a:solidFill>
                  <a:srgbClr val="64748B"/>
                </a:solidFill>
              </a:rPr>
              <a:t>Trial stores assessed</a:t>
            </a:r>
            <a:endParaRPr lang="en-US" sz="900" dirty="0"/>
          </a:p>
        </p:txBody>
      </p:sp>
      <p:sp>
        <p:nvSpPr>
          <p:cNvPr id="17" name="Shape 15"/>
          <p:cNvSpPr/>
          <p:nvPr/>
        </p:nvSpPr>
        <p:spPr>
          <a:xfrm>
            <a:off x="3291840" y="3337560"/>
            <a:ext cx="2560320" cy="1371600"/>
          </a:xfrm>
          <a:prstGeom prst="rect">
            <a:avLst/>
          </a:prstGeom>
          <a:solidFill>
            <a:srgbClr val="E8F5F0"/>
          </a:solidFill>
          <a:ln w="12700">
            <a:solidFill>
              <a:srgbClr val="D1EAE0"/>
            </a:solidFill>
            <a:prstDash val="solid"/>
          </a:ln>
          <a:effectLst>
            <a:outerShdw sx="100000" sy="100000" kx="0" ky="0" algn="bl" rotWithShape="0" blurRad="101600" dist="25400" dir="8100000">
              <a:srgbClr val="000000">
                <a:alpha val="10000"/>
              </a:srgbClr>
            </a:outerShdw>
          </a:effectLst>
        </p:spPr>
      </p:sp>
      <p:sp>
        <p:nvSpPr>
          <p:cNvPr id="18" name="Text 16"/>
          <p:cNvSpPr/>
          <p:nvPr/>
        </p:nvSpPr>
        <p:spPr>
          <a:xfrm>
            <a:off x="3337560" y="3429000"/>
            <a:ext cx="2468880" cy="754380"/>
          </a:xfrm>
          <a:prstGeom prst="rect">
            <a:avLst/>
          </a:prstGeom>
          <a:noFill/>
          <a:ln/>
        </p:spPr>
        <p:txBody>
          <a:bodyPr wrap="square" lIns="0" tIns="0" rIns="0" bIns="0" rtlCol="0" anchor="ctr"/>
          <a:lstStyle/>
          <a:p>
            <a:pPr algn="ctr" indent="0" marL="0">
              <a:buNone/>
            </a:pPr>
            <a:r>
              <a:rPr lang="en-US" sz="2800" b="1" dirty="0">
                <a:solidFill>
                  <a:srgbClr val="1D9E75"/>
                </a:solidFill>
              </a:rPr>
              <a:t>2 of 3</a:t>
            </a:r>
            <a:endParaRPr lang="en-US" sz="2800" dirty="0"/>
          </a:p>
        </p:txBody>
      </p:sp>
      <p:sp>
        <p:nvSpPr>
          <p:cNvPr id="19" name="Text 17"/>
          <p:cNvSpPr/>
          <p:nvPr/>
        </p:nvSpPr>
        <p:spPr>
          <a:xfrm>
            <a:off x="3337560" y="4133088"/>
            <a:ext cx="2468880" cy="521208"/>
          </a:xfrm>
          <a:prstGeom prst="rect">
            <a:avLst/>
          </a:prstGeom>
          <a:noFill/>
          <a:ln/>
        </p:spPr>
        <p:txBody>
          <a:bodyPr wrap="square" lIns="0" tIns="0" rIns="0" bIns="0" rtlCol="0" anchor="t"/>
          <a:lstStyle/>
          <a:p>
            <a:pPr algn="ctr" indent="0" marL="0">
              <a:buNone/>
            </a:pPr>
            <a:r>
              <a:rPr lang="en-US" sz="900" dirty="0">
                <a:solidFill>
                  <a:srgbClr val="64748B"/>
                </a:solidFill>
              </a:rPr>
              <a:t>Showed significant uplift</a:t>
            </a:r>
            <a:endParaRPr lang="en-US" sz="900" dirty="0"/>
          </a:p>
        </p:txBody>
      </p:sp>
      <p:sp>
        <p:nvSpPr>
          <p:cNvPr id="20" name="Shape 18"/>
          <p:cNvSpPr/>
          <p:nvPr/>
        </p:nvSpPr>
        <p:spPr>
          <a:xfrm>
            <a:off x="6126480" y="3337560"/>
            <a:ext cx="2560320" cy="1371600"/>
          </a:xfrm>
          <a:prstGeom prst="rect">
            <a:avLst/>
          </a:prstGeom>
          <a:solidFill>
            <a:srgbClr val="E8F5F0"/>
          </a:solidFill>
          <a:ln w="12700">
            <a:solidFill>
              <a:srgbClr val="D1EAE0"/>
            </a:solidFill>
            <a:prstDash val="solid"/>
          </a:ln>
          <a:effectLst>
            <a:outerShdw sx="100000" sy="100000" kx="0" ky="0" algn="bl" rotWithShape="0" blurRad="101600" dist="25400" dir="8100000">
              <a:srgbClr val="000000">
                <a:alpha val="10000"/>
              </a:srgbClr>
            </a:outerShdw>
          </a:effectLst>
        </p:spPr>
      </p:sp>
      <p:sp>
        <p:nvSpPr>
          <p:cNvPr id="21" name="Text 19"/>
          <p:cNvSpPr/>
          <p:nvPr/>
        </p:nvSpPr>
        <p:spPr>
          <a:xfrm>
            <a:off x="6172200" y="3429000"/>
            <a:ext cx="2468880" cy="754380"/>
          </a:xfrm>
          <a:prstGeom prst="rect">
            <a:avLst/>
          </a:prstGeom>
          <a:noFill/>
          <a:ln/>
        </p:spPr>
        <p:txBody>
          <a:bodyPr wrap="square" lIns="0" tIns="0" rIns="0" bIns="0" rtlCol="0" anchor="ctr"/>
          <a:lstStyle/>
          <a:p>
            <a:pPr algn="ctr" indent="0" marL="0">
              <a:buNone/>
            </a:pPr>
            <a:r>
              <a:rPr lang="en-US" sz="2800" b="1" dirty="0">
                <a:solidFill>
                  <a:srgbClr val="1D9E75"/>
                </a:solidFill>
              </a:rPr>
              <a:t>p &lt; 0.05</a:t>
            </a:r>
            <a:endParaRPr lang="en-US" sz="2800" dirty="0"/>
          </a:p>
        </p:txBody>
      </p:sp>
      <p:sp>
        <p:nvSpPr>
          <p:cNvPr id="22" name="Text 20"/>
          <p:cNvSpPr/>
          <p:nvPr/>
        </p:nvSpPr>
        <p:spPr>
          <a:xfrm>
            <a:off x="6172200" y="4133088"/>
            <a:ext cx="2468880" cy="521208"/>
          </a:xfrm>
          <a:prstGeom prst="rect">
            <a:avLst/>
          </a:prstGeom>
          <a:noFill/>
          <a:ln/>
        </p:spPr>
        <p:txBody>
          <a:bodyPr wrap="square" lIns="0" tIns="0" rIns="0" bIns="0" rtlCol="0" anchor="t"/>
          <a:lstStyle/>
          <a:p>
            <a:pPr algn="ctr" indent="0" marL="0">
              <a:buNone/>
            </a:pPr>
            <a:r>
              <a:rPr lang="en-US" sz="900" dirty="0">
                <a:solidFill>
                  <a:srgbClr val="64748B"/>
                </a:solidFill>
              </a:rPr>
              <a:t>Statistical significance threshold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D9E75"/>
          </a:solidFill>
          <a:ln w="12700">
            <a:solidFill>
              <a:srgbClr val="1D9E75"/>
            </a:solidFill>
            <a:prstDash val="solid"/>
          </a:ln>
        </p:spPr>
      </p:sp>
      <p:sp>
        <p:nvSpPr>
          <p:cNvPr id="3" name="Text 1"/>
          <p:cNvSpPr/>
          <p:nvPr/>
        </p:nvSpPr>
        <p:spPr>
          <a:xfrm>
            <a:off x="457200" y="1280160"/>
            <a:ext cx="8229600" cy="1280160"/>
          </a:xfrm>
          <a:prstGeom prst="rect">
            <a:avLst/>
          </a:prstGeom>
          <a:noFill/>
          <a:ln/>
        </p:spPr>
        <p:txBody>
          <a:bodyPr wrap="square" lIns="0" tIns="0" rIns="0" bIns="0" rtlCol="0" anchor="ctr"/>
          <a:lstStyle/>
          <a:p>
            <a:pPr indent="0" marL="0">
              <a:buNone/>
            </a:pPr>
            <a:r>
              <a:rPr lang="en-US" sz="10000" b="1" dirty="0">
                <a:solidFill>
                  <a:srgbClr val="1F2937"/>
                </a:solidFill>
              </a:rPr>
              <a:t>01</a:t>
            </a:r>
            <a:endParaRPr lang="en-US" sz="10000" dirty="0"/>
          </a:p>
        </p:txBody>
      </p:sp>
      <p:sp>
        <p:nvSpPr>
          <p:cNvPr id="4" name="Text 2"/>
          <p:cNvSpPr/>
          <p:nvPr/>
        </p:nvSpPr>
        <p:spPr>
          <a:xfrm>
            <a:off x="457200" y="2926080"/>
            <a:ext cx="8229600" cy="640080"/>
          </a:xfrm>
          <a:prstGeom prst="rect">
            <a:avLst/>
          </a:prstGeom>
          <a:noFill/>
          <a:ln/>
        </p:spPr>
        <p:txBody>
          <a:bodyPr wrap="square" lIns="0" tIns="0" rIns="0" bIns="0" rtlCol="0" anchor="ctr"/>
          <a:lstStyle/>
          <a:p>
            <a:pPr indent="0" marL="0">
              <a:buNone/>
            </a:pPr>
            <a:r>
              <a:rPr lang="en-US" sz="3200" b="1" dirty="0">
                <a:solidFill>
                  <a:srgbClr val="FFFFFF"/>
                </a:solidFill>
              </a:rPr>
              <a:t>Category Overview</a:t>
            </a:r>
            <a:endParaRPr lang="en-US" sz="3200" dirty="0"/>
          </a:p>
        </p:txBody>
      </p:sp>
      <p:sp>
        <p:nvSpPr>
          <p:cNvPr id="5" name="Text 3"/>
          <p:cNvSpPr/>
          <p:nvPr/>
        </p:nvSpPr>
        <p:spPr>
          <a:xfrm>
            <a:off x="457200" y="3611880"/>
            <a:ext cx="8229600" cy="365760"/>
          </a:xfrm>
          <a:prstGeom prst="rect">
            <a:avLst/>
          </a:prstGeom>
          <a:noFill/>
          <a:ln/>
        </p:spPr>
        <p:txBody>
          <a:bodyPr wrap="square" lIns="0" tIns="0" rIns="0" bIns="0" rtlCol="0" anchor="ctr"/>
          <a:lstStyle/>
          <a:p>
            <a:pPr indent="0" marL="0">
              <a:buNone/>
            </a:pPr>
            <a:r>
              <a:rPr lang="en-US" sz="1400" dirty="0">
                <a:solidFill>
                  <a:srgbClr val="9CA3AF"/>
                </a:solidFill>
              </a:rPr>
              <a:t>Purchasing trends, customer segments and spend drivers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1A1A2E"/>
                </a:solidFill>
              </a:rPr>
              <a:t>Category Overview</a:t>
            </a:r>
            <a:endParaRPr lang="en-US" sz="2800" dirty="0"/>
          </a:p>
        </p:txBody>
      </p:sp>
      <p:sp>
        <p:nvSpPr>
          <p:cNvPr id="3" name="Shape 1"/>
          <p:cNvSpPr/>
          <p:nvPr/>
        </p:nvSpPr>
        <p:spPr>
          <a:xfrm>
            <a:off x="457200" y="841248"/>
            <a:ext cx="8229600" cy="36576"/>
          </a:xfrm>
          <a:prstGeom prst="rect">
            <a:avLst/>
          </a:prstGeom>
          <a:solidFill>
            <a:srgbClr val="1D9E75"/>
          </a:solidFill>
          <a:ln w="12700">
            <a:solidFill>
              <a:srgbClr val="1D9E75"/>
            </a:solidFill>
            <a:prstDash val="solid"/>
          </a:ln>
        </p:spPr>
      </p:sp>
      <p:sp>
        <p:nvSpPr>
          <p:cNvPr id="4" name="Text 2"/>
          <p:cNvSpPr/>
          <p:nvPr/>
        </p:nvSpPr>
        <p:spPr>
          <a:xfrm>
            <a:off x="457200" y="960120"/>
            <a:ext cx="8229600" cy="320040"/>
          </a:xfrm>
          <a:prstGeom prst="rect">
            <a:avLst/>
          </a:prstGeom>
          <a:noFill/>
          <a:ln/>
        </p:spPr>
        <p:txBody>
          <a:bodyPr wrap="square" lIns="0" tIns="0" rIns="0" bIns="0" rtlCol="0" anchor="ctr"/>
          <a:lstStyle/>
          <a:p>
            <a:pPr indent="0" marL="0">
              <a:buNone/>
            </a:pPr>
            <a:r>
              <a:rPr lang="en-US" sz="1200" i="1" dirty="0">
                <a:solidFill>
                  <a:srgbClr val="64748B"/>
                </a:solidFill>
              </a:rPr>
              <a:t>Key callout: Three customer segments account for the majority of total chip revenue</a:t>
            </a:r>
            <a:endParaRPr lang="en-US" sz="1200" dirty="0"/>
          </a:p>
        </p:txBody>
      </p:sp>
      <p:graphicFrame>
        <p:nvGraphicFramePr>
          <p:cNvPr id="5" name="Chart 0" descr=""/>
          <p:cNvGraphicFramePr/>
          <p:nvPr/>
        </p:nvGraphicFramePr>
        <p:xfrm>
          <a:off x="457200" y="132588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035040" y="1325880"/>
            <a:ext cx="2834640" cy="15544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7" name="Shape 4"/>
          <p:cNvSpPr/>
          <p:nvPr/>
        </p:nvSpPr>
        <p:spPr>
          <a:xfrm>
            <a:off x="6035040" y="1325880"/>
            <a:ext cx="64008" cy="1554480"/>
          </a:xfrm>
          <a:prstGeom prst="rect">
            <a:avLst/>
          </a:prstGeom>
          <a:solidFill>
            <a:srgbClr val="F4A623"/>
          </a:solidFill>
          <a:ln w="12700">
            <a:solidFill>
              <a:srgbClr val="F4A623"/>
            </a:solidFill>
            <a:prstDash val="solid"/>
          </a:ln>
        </p:spPr>
      </p:sp>
      <p:sp>
        <p:nvSpPr>
          <p:cNvPr id="8" name="Text 5"/>
          <p:cNvSpPr/>
          <p:nvPr/>
        </p:nvSpPr>
        <p:spPr>
          <a:xfrm>
            <a:off x="6172200" y="139903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Largest segment</a:t>
            </a:r>
            <a:endParaRPr lang="en-US" sz="1100" dirty="0"/>
          </a:p>
        </p:txBody>
      </p:sp>
      <p:sp>
        <p:nvSpPr>
          <p:cNvPr id="9" name="Text 6"/>
          <p:cNvSpPr/>
          <p:nvPr/>
        </p:nvSpPr>
        <p:spPr>
          <a:xfrm>
            <a:off x="6172200" y="1645920"/>
            <a:ext cx="2651760" cy="1170432"/>
          </a:xfrm>
          <a:prstGeom prst="rect">
            <a:avLst/>
          </a:prstGeom>
          <a:noFill/>
          <a:ln/>
        </p:spPr>
        <p:txBody>
          <a:bodyPr wrap="square" lIns="0" tIns="0" rIns="0" bIns="0" rtlCol="0" anchor="ctr"/>
          <a:lstStyle/>
          <a:p>
            <a:pPr indent="0" marL="0">
              <a:buNone/>
            </a:pPr>
            <a:r>
              <a:rPr lang="en-US" sz="950" dirty="0">
                <a:solidFill>
                  <a:srgbClr val="64748B"/>
                </a:solidFill>
              </a:rPr>
              <a:t>Budget – Older Families contribute the highest absolute revenue — driven by bulk purchasing behaviour and large household size.</a:t>
            </a:r>
            <a:endParaRPr lang="en-US" sz="950" dirty="0"/>
          </a:p>
        </p:txBody>
      </p:sp>
      <p:sp>
        <p:nvSpPr>
          <p:cNvPr id="10" name="Shape 7"/>
          <p:cNvSpPr/>
          <p:nvPr/>
        </p:nvSpPr>
        <p:spPr>
          <a:xfrm>
            <a:off x="6035040" y="3017520"/>
            <a:ext cx="2834640" cy="15544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1" name="Shape 8"/>
          <p:cNvSpPr/>
          <p:nvPr/>
        </p:nvSpPr>
        <p:spPr>
          <a:xfrm>
            <a:off x="6035040" y="3017520"/>
            <a:ext cx="64008" cy="1554480"/>
          </a:xfrm>
          <a:prstGeom prst="rect">
            <a:avLst/>
          </a:prstGeom>
          <a:solidFill>
            <a:srgbClr val="1D9E75"/>
          </a:solidFill>
          <a:ln w="12700">
            <a:solidFill>
              <a:srgbClr val="1D9E75"/>
            </a:solidFill>
            <a:prstDash val="solid"/>
          </a:ln>
        </p:spPr>
      </p:sp>
      <p:sp>
        <p:nvSpPr>
          <p:cNvPr id="12" name="Text 9"/>
          <p:cNvSpPr/>
          <p:nvPr/>
        </p:nvSpPr>
        <p:spPr>
          <a:xfrm>
            <a:off x="6172200" y="309067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Highest growth potential</a:t>
            </a:r>
            <a:endParaRPr lang="en-US" sz="1100" dirty="0"/>
          </a:p>
        </p:txBody>
      </p:sp>
      <p:sp>
        <p:nvSpPr>
          <p:cNvPr id="13" name="Text 10"/>
          <p:cNvSpPr/>
          <p:nvPr/>
        </p:nvSpPr>
        <p:spPr>
          <a:xfrm>
            <a:off x="6172200" y="3337560"/>
            <a:ext cx="2651760" cy="1170432"/>
          </a:xfrm>
          <a:prstGeom prst="rect">
            <a:avLst/>
          </a:prstGeom>
          <a:noFill/>
          <a:ln/>
        </p:spPr>
        <p:txBody>
          <a:bodyPr wrap="square" lIns="0" tIns="0" rIns="0" bIns="0" rtlCol="0" anchor="ctr"/>
          <a:lstStyle/>
          <a:p>
            <a:pPr indent="0" marL="0">
              <a:buNone/>
            </a:pPr>
            <a:r>
              <a:rPr lang="en-US" sz="950" dirty="0">
                <a:solidFill>
                  <a:srgbClr val="64748B"/>
                </a:solidFill>
              </a:rPr>
              <a:t>Mainstream – Young Singles/Couples punch above their weight — high transaction frequency combined with premium price tolerance.</a:t>
            </a:r>
            <a:endParaRPr lang="en-US" sz="950" dirty="0"/>
          </a:p>
        </p:txBody>
      </p:sp>
      <p:sp>
        <p:nvSpPr>
          <p:cNvPr id="14" name="Shape 11"/>
          <p:cNvSpPr/>
          <p:nvPr/>
        </p:nvSpPr>
        <p:spPr>
          <a:xfrm>
            <a:off x="6035040" y="4663440"/>
            <a:ext cx="2834640" cy="822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5" name="Shape 12"/>
          <p:cNvSpPr/>
          <p:nvPr/>
        </p:nvSpPr>
        <p:spPr>
          <a:xfrm>
            <a:off x="6035040" y="4663440"/>
            <a:ext cx="64008" cy="822960"/>
          </a:xfrm>
          <a:prstGeom prst="rect">
            <a:avLst/>
          </a:prstGeom>
          <a:solidFill>
            <a:srgbClr val="AAAAAA"/>
          </a:solidFill>
          <a:ln w="12700">
            <a:solidFill>
              <a:srgbClr val="AAAAAA"/>
            </a:solidFill>
            <a:prstDash val="solid"/>
          </a:ln>
        </p:spPr>
      </p:sp>
      <p:sp>
        <p:nvSpPr>
          <p:cNvPr id="16" name="Text 13"/>
          <p:cNvSpPr/>
          <p:nvPr/>
        </p:nvSpPr>
        <p:spPr>
          <a:xfrm>
            <a:off x="6172200" y="473659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Note</a:t>
            </a:r>
            <a:endParaRPr lang="en-US" sz="1100" dirty="0"/>
          </a:p>
        </p:txBody>
      </p:sp>
      <p:sp>
        <p:nvSpPr>
          <p:cNvPr id="17" name="Text 14"/>
          <p:cNvSpPr/>
          <p:nvPr/>
        </p:nvSpPr>
        <p:spPr>
          <a:xfrm>
            <a:off x="6172200" y="4983480"/>
            <a:ext cx="2651760" cy="438912"/>
          </a:xfrm>
          <a:prstGeom prst="rect">
            <a:avLst/>
          </a:prstGeom>
          <a:noFill/>
          <a:ln/>
        </p:spPr>
        <p:txBody>
          <a:bodyPr wrap="square" lIns="0" tIns="0" rIns="0" bIns="0" rtlCol="0" anchor="ctr"/>
          <a:lstStyle/>
          <a:p>
            <a:pPr indent="0" marL="0">
              <a:buNone/>
            </a:pPr>
            <a:r>
              <a:rPr lang="en-US" sz="950" dirty="0">
                <a:solidFill>
                  <a:srgbClr val="64748B"/>
                </a:solidFill>
              </a:rPr>
              <a:t>Values are illustrative. Replace with actual totals from your Task 1 output.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1A1A2E"/>
                </a:solidFill>
              </a:rPr>
              <a:t>Customer Segmentation</a:t>
            </a:r>
            <a:endParaRPr lang="en-US" sz="2800" dirty="0"/>
          </a:p>
        </p:txBody>
      </p:sp>
      <p:sp>
        <p:nvSpPr>
          <p:cNvPr id="3" name="Shape 1"/>
          <p:cNvSpPr/>
          <p:nvPr/>
        </p:nvSpPr>
        <p:spPr>
          <a:xfrm>
            <a:off x="457200" y="841248"/>
            <a:ext cx="8229600" cy="36576"/>
          </a:xfrm>
          <a:prstGeom prst="rect">
            <a:avLst/>
          </a:prstGeom>
          <a:solidFill>
            <a:srgbClr val="1D9E75"/>
          </a:solidFill>
          <a:ln w="12700">
            <a:solidFill>
              <a:srgbClr val="1D9E75"/>
            </a:solidFill>
            <a:prstDash val="solid"/>
          </a:ln>
        </p:spPr>
      </p:sp>
      <p:sp>
        <p:nvSpPr>
          <p:cNvPr id="4" name="Text 2"/>
          <p:cNvSpPr/>
          <p:nvPr/>
        </p:nvSpPr>
        <p:spPr>
          <a:xfrm>
            <a:off x="457200" y="960120"/>
            <a:ext cx="8229600" cy="320040"/>
          </a:xfrm>
          <a:prstGeom prst="rect">
            <a:avLst/>
          </a:prstGeom>
          <a:noFill/>
          <a:ln/>
        </p:spPr>
        <p:txBody>
          <a:bodyPr wrap="square" lIns="0" tIns="0" rIns="0" bIns="0" rtlCol="0" anchor="ctr"/>
          <a:lstStyle/>
          <a:p>
            <a:pPr indent="0" marL="0">
              <a:buNone/>
            </a:pPr>
            <a:r>
              <a:rPr lang="en-US" sz="1200" i="1" dirty="0">
                <a:solidFill>
                  <a:srgbClr val="64748B"/>
                </a:solidFill>
              </a:rPr>
              <a:t>Mainstream Young Singles/Couples pay more per unit and over-index on premium brands</a:t>
            </a:r>
            <a:endParaRPr lang="en-US" sz="1200" dirty="0"/>
          </a:p>
        </p:txBody>
      </p:sp>
      <p:graphicFrame>
        <p:nvGraphicFramePr>
          <p:cNvPr id="5" name="Chart 0" descr=""/>
          <p:cNvGraphicFramePr/>
          <p:nvPr/>
        </p:nvGraphicFramePr>
        <p:xfrm>
          <a:off x="457200" y="132588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035040" y="1325880"/>
            <a:ext cx="2834640" cy="141732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7" name="Shape 4"/>
          <p:cNvSpPr/>
          <p:nvPr/>
        </p:nvSpPr>
        <p:spPr>
          <a:xfrm>
            <a:off x="6035040" y="1325880"/>
            <a:ext cx="64008" cy="1417320"/>
          </a:xfrm>
          <a:prstGeom prst="rect">
            <a:avLst/>
          </a:prstGeom>
          <a:solidFill>
            <a:srgbClr val="378ADD"/>
          </a:solidFill>
          <a:ln w="12700">
            <a:solidFill>
              <a:srgbClr val="378ADD"/>
            </a:solidFill>
            <a:prstDash val="solid"/>
          </a:ln>
        </p:spPr>
      </p:sp>
      <p:sp>
        <p:nvSpPr>
          <p:cNvPr id="8" name="Text 5"/>
          <p:cNvSpPr/>
          <p:nvPr/>
        </p:nvSpPr>
        <p:spPr>
          <a:xfrm>
            <a:off x="6172200" y="139903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Price premium — statistically confirmed</a:t>
            </a:r>
            <a:endParaRPr lang="en-US" sz="1100" dirty="0"/>
          </a:p>
        </p:txBody>
      </p:sp>
      <p:sp>
        <p:nvSpPr>
          <p:cNvPr id="9" name="Text 6"/>
          <p:cNvSpPr/>
          <p:nvPr/>
        </p:nvSpPr>
        <p:spPr>
          <a:xfrm>
            <a:off x="6172200" y="1645920"/>
            <a:ext cx="2651760" cy="1033272"/>
          </a:xfrm>
          <a:prstGeom prst="rect">
            <a:avLst/>
          </a:prstGeom>
          <a:noFill/>
          <a:ln/>
        </p:spPr>
        <p:txBody>
          <a:bodyPr wrap="square" lIns="0" tIns="0" rIns="0" bIns="0" rtlCol="0" anchor="ctr"/>
          <a:lstStyle/>
          <a:p>
            <a:pPr indent="0" marL="0">
              <a:buNone/>
            </a:pPr>
            <a:r>
              <a:rPr lang="en-US" sz="950" dirty="0">
                <a:solidFill>
                  <a:srgbClr val="64748B"/>
                </a:solidFill>
              </a:rPr>
              <a:t>Mainstream Young Singles/Couples pay significantly more per unit than the rest of the population (t-test, p &lt; 0.05). Impulse purchasing behaviour drives willingness to pay.</a:t>
            </a:r>
            <a:endParaRPr lang="en-US" sz="950" dirty="0"/>
          </a:p>
        </p:txBody>
      </p:sp>
      <p:sp>
        <p:nvSpPr>
          <p:cNvPr id="10" name="Shape 7"/>
          <p:cNvSpPr/>
          <p:nvPr/>
        </p:nvSpPr>
        <p:spPr>
          <a:xfrm>
            <a:off x="6035040" y="2834640"/>
            <a:ext cx="2834640" cy="141732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1" name="Shape 8"/>
          <p:cNvSpPr/>
          <p:nvPr/>
        </p:nvSpPr>
        <p:spPr>
          <a:xfrm>
            <a:off x="6035040" y="2834640"/>
            <a:ext cx="64008" cy="1417320"/>
          </a:xfrm>
          <a:prstGeom prst="rect">
            <a:avLst/>
          </a:prstGeom>
          <a:solidFill>
            <a:srgbClr val="1D9E75"/>
          </a:solidFill>
          <a:ln w="12700">
            <a:solidFill>
              <a:srgbClr val="1D9E75"/>
            </a:solidFill>
            <a:prstDash val="solid"/>
          </a:ln>
        </p:spPr>
      </p:sp>
      <p:sp>
        <p:nvSpPr>
          <p:cNvPr id="12" name="Text 9"/>
          <p:cNvSpPr/>
          <p:nvPr/>
        </p:nvSpPr>
        <p:spPr>
          <a:xfrm>
            <a:off x="6172200" y="290779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Brand affinity</a:t>
            </a:r>
            <a:endParaRPr lang="en-US" sz="1100" dirty="0"/>
          </a:p>
        </p:txBody>
      </p:sp>
      <p:sp>
        <p:nvSpPr>
          <p:cNvPr id="13" name="Text 10"/>
          <p:cNvSpPr/>
          <p:nvPr/>
        </p:nvSpPr>
        <p:spPr>
          <a:xfrm>
            <a:off x="6172200" y="3154680"/>
            <a:ext cx="2651760" cy="1033272"/>
          </a:xfrm>
          <a:prstGeom prst="rect">
            <a:avLst/>
          </a:prstGeom>
          <a:noFill/>
          <a:ln/>
        </p:spPr>
        <p:txBody>
          <a:bodyPr wrap="square" lIns="0" tIns="0" rIns="0" bIns="0" rtlCol="0" anchor="ctr"/>
          <a:lstStyle/>
          <a:p>
            <a:pPr indent="0" marL="0">
              <a:buNone/>
            </a:pPr>
            <a:r>
              <a:rPr lang="en-US" sz="950" dirty="0">
                <a:solidFill>
                  <a:srgbClr val="64748B"/>
                </a:solidFill>
              </a:rPr>
              <a:t>This segment over-indexes on Tyrrells chips vs the general population. Targeted shelf placement of premium SKUs in relevant stores can drive incremental margin.</a:t>
            </a:r>
            <a:endParaRPr lang="en-US" sz="950" dirty="0"/>
          </a:p>
        </p:txBody>
      </p:sp>
      <p:sp>
        <p:nvSpPr>
          <p:cNvPr id="14" name="Shape 11"/>
          <p:cNvSpPr/>
          <p:nvPr/>
        </p:nvSpPr>
        <p:spPr>
          <a:xfrm>
            <a:off x="6035040" y="4343400"/>
            <a:ext cx="2834640" cy="6400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5" name="Shape 12"/>
          <p:cNvSpPr/>
          <p:nvPr/>
        </p:nvSpPr>
        <p:spPr>
          <a:xfrm>
            <a:off x="6035040" y="4343400"/>
            <a:ext cx="64008" cy="640080"/>
          </a:xfrm>
          <a:prstGeom prst="rect">
            <a:avLst/>
          </a:prstGeom>
          <a:solidFill>
            <a:srgbClr val="F4A623"/>
          </a:solidFill>
          <a:ln w="12700">
            <a:solidFill>
              <a:srgbClr val="F4A623"/>
            </a:solidFill>
            <a:prstDash val="solid"/>
          </a:ln>
        </p:spPr>
      </p:sp>
      <p:sp>
        <p:nvSpPr>
          <p:cNvPr id="16" name="Text 13"/>
          <p:cNvSpPr/>
          <p:nvPr/>
        </p:nvSpPr>
        <p:spPr>
          <a:xfrm>
            <a:off x="6172200" y="441655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Pack size preference</a:t>
            </a:r>
            <a:endParaRPr lang="en-US" sz="1100" dirty="0"/>
          </a:p>
        </p:txBody>
      </p:sp>
      <p:sp>
        <p:nvSpPr>
          <p:cNvPr id="17" name="Text 14"/>
          <p:cNvSpPr/>
          <p:nvPr/>
        </p:nvSpPr>
        <p:spPr>
          <a:xfrm>
            <a:off x="6172200" y="4663440"/>
            <a:ext cx="2651760" cy="256032"/>
          </a:xfrm>
          <a:prstGeom prst="rect">
            <a:avLst/>
          </a:prstGeom>
          <a:noFill/>
          <a:ln/>
        </p:spPr>
        <p:txBody>
          <a:bodyPr wrap="square" lIns="0" tIns="0" rIns="0" bIns="0" rtlCol="0" anchor="ctr"/>
          <a:lstStyle/>
          <a:p>
            <a:pPr indent="0" marL="0">
              <a:buNone/>
            </a:pPr>
            <a:r>
              <a:rPr lang="en-US" sz="950" dirty="0">
                <a:solidFill>
                  <a:srgbClr val="64748B"/>
                </a:solidFill>
              </a:rPr>
              <a:t>150g–175g packs preferred — consistent with on-the-go consumption occasions.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378ADD"/>
          </a:solidFill>
          <a:ln w="12700">
            <a:solidFill>
              <a:srgbClr val="378ADD"/>
            </a:solidFill>
            <a:prstDash val="solid"/>
          </a:ln>
        </p:spPr>
      </p:sp>
      <p:sp>
        <p:nvSpPr>
          <p:cNvPr id="3" name="Text 1"/>
          <p:cNvSpPr/>
          <p:nvPr/>
        </p:nvSpPr>
        <p:spPr>
          <a:xfrm>
            <a:off x="457200" y="1280160"/>
            <a:ext cx="8229600" cy="1280160"/>
          </a:xfrm>
          <a:prstGeom prst="rect">
            <a:avLst/>
          </a:prstGeom>
          <a:noFill/>
          <a:ln/>
        </p:spPr>
        <p:txBody>
          <a:bodyPr wrap="square" lIns="0" tIns="0" rIns="0" bIns="0" rtlCol="0" anchor="ctr"/>
          <a:lstStyle/>
          <a:p>
            <a:pPr indent="0" marL="0">
              <a:buNone/>
            </a:pPr>
            <a:r>
              <a:rPr lang="en-US" sz="10000" b="1" dirty="0">
                <a:solidFill>
                  <a:srgbClr val="1F2937"/>
                </a:solidFill>
              </a:rPr>
              <a:t>02</a:t>
            </a:r>
            <a:endParaRPr lang="en-US" sz="10000" dirty="0"/>
          </a:p>
        </p:txBody>
      </p:sp>
      <p:sp>
        <p:nvSpPr>
          <p:cNvPr id="4" name="Text 2"/>
          <p:cNvSpPr/>
          <p:nvPr/>
        </p:nvSpPr>
        <p:spPr>
          <a:xfrm>
            <a:off x="457200" y="2926080"/>
            <a:ext cx="8229600" cy="640080"/>
          </a:xfrm>
          <a:prstGeom prst="rect">
            <a:avLst/>
          </a:prstGeom>
          <a:noFill/>
          <a:ln/>
        </p:spPr>
        <p:txBody>
          <a:bodyPr wrap="square" lIns="0" tIns="0" rIns="0" bIns="0" rtlCol="0" anchor="ctr"/>
          <a:lstStyle/>
          <a:p>
            <a:pPr indent="0" marL="0">
              <a:buNone/>
            </a:pPr>
            <a:r>
              <a:rPr lang="en-US" sz="3200" b="1" dirty="0">
                <a:solidFill>
                  <a:srgbClr val="FFFFFF"/>
                </a:solidFill>
              </a:rPr>
              <a:t>Trial Store Performance</a:t>
            </a:r>
            <a:endParaRPr lang="en-US" sz="3200" dirty="0"/>
          </a:p>
        </p:txBody>
      </p:sp>
      <p:sp>
        <p:nvSpPr>
          <p:cNvPr id="5" name="Text 3"/>
          <p:cNvSpPr/>
          <p:nvPr/>
        </p:nvSpPr>
        <p:spPr>
          <a:xfrm>
            <a:off x="457200" y="3611880"/>
            <a:ext cx="8229600" cy="365760"/>
          </a:xfrm>
          <a:prstGeom prst="rect">
            <a:avLst/>
          </a:prstGeom>
          <a:noFill/>
          <a:ln/>
        </p:spPr>
        <p:txBody>
          <a:bodyPr wrap="square" lIns="0" tIns="0" rIns="0" bIns="0" rtlCol="0" anchor="ctr"/>
          <a:lstStyle/>
          <a:p>
            <a:pPr indent="0" marL="0">
              <a:buNone/>
            </a:pPr>
            <a:r>
              <a:rPr lang="en-US" sz="1400" dirty="0">
                <a:solidFill>
                  <a:srgbClr val="9CA3AF"/>
                </a:solidFill>
              </a:rPr>
              <a:t>Control store selection, uplift testing and statistical assessment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1A1A2E"/>
                </a:solidFill>
              </a:rPr>
              <a:t>Control Store Selection</a:t>
            </a:r>
            <a:endParaRPr lang="en-US" sz="2800" dirty="0"/>
          </a:p>
        </p:txBody>
      </p:sp>
      <p:sp>
        <p:nvSpPr>
          <p:cNvPr id="3" name="Shape 1"/>
          <p:cNvSpPr/>
          <p:nvPr/>
        </p:nvSpPr>
        <p:spPr>
          <a:xfrm>
            <a:off x="457200" y="841248"/>
            <a:ext cx="8229600" cy="36576"/>
          </a:xfrm>
          <a:prstGeom prst="rect">
            <a:avLst/>
          </a:prstGeom>
          <a:solidFill>
            <a:srgbClr val="1D9E75"/>
          </a:solidFill>
          <a:ln w="12700">
            <a:solidFill>
              <a:srgbClr val="1D9E75"/>
            </a:solidFill>
            <a:prstDash val="solid"/>
          </a:ln>
        </p:spPr>
      </p:sp>
      <p:sp>
        <p:nvSpPr>
          <p:cNvPr id="4" name="Text 2"/>
          <p:cNvSpPr/>
          <p:nvPr/>
        </p:nvSpPr>
        <p:spPr>
          <a:xfrm>
            <a:off x="457200" y="960120"/>
            <a:ext cx="8229600" cy="320040"/>
          </a:xfrm>
          <a:prstGeom prst="rect">
            <a:avLst/>
          </a:prstGeom>
          <a:noFill/>
          <a:ln/>
        </p:spPr>
        <p:txBody>
          <a:bodyPr wrap="square" lIns="0" tIns="0" rIns="0" bIns="0" rtlCol="0" anchor="ctr"/>
          <a:lstStyle/>
          <a:p>
            <a:pPr indent="0" marL="0">
              <a:buNone/>
            </a:pPr>
            <a:r>
              <a:rPr lang="en-US" sz="1200" i="1" dirty="0">
                <a:solidFill>
                  <a:srgbClr val="64748B"/>
                </a:solidFill>
              </a:rPr>
              <a:t>Control stores were matched to trial stores based on pre-trial sales behaviour using two complementary metrics</a:t>
            </a:r>
            <a:endParaRPr lang="en-US" sz="1200" dirty="0"/>
          </a:p>
        </p:txBody>
      </p:sp>
      <p:sp>
        <p:nvSpPr>
          <p:cNvPr id="5" name="Shape 3"/>
          <p:cNvSpPr/>
          <p:nvPr/>
        </p:nvSpPr>
        <p:spPr>
          <a:xfrm>
            <a:off x="457200" y="1371600"/>
            <a:ext cx="4023360" cy="12801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6" name="Shape 4"/>
          <p:cNvSpPr/>
          <p:nvPr/>
        </p:nvSpPr>
        <p:spPr>
          <a:xfrm>
            <a:off x="457200" y="1371600"/>
            <a:ext cx="64008" cy="1280160"/>
          </a:xfrm>
          <a:prstGeom prst="rect">
            <a:avLst/>
          </a:prstGeom>
          <a:solidFill>
            <a:srgbClr val="1D9E75"/>
          </a:solidFill>
          <a:ln w="12700">
            <a:solidFill>
              <a:srgbClr val="1D9E75"/>
            </a:solidFill>
            <a:prstDash val="solid"/>
          </a:ln>
        </p:spPr>
      </p:sp>
      <p:sp>
        <p:nvSpPr>
          <p:cNvPr id="7" name="Text 5"/>
          <p:cNvSpPr/>
          <p:nvPr/>
        </p:nvSpPr>
        <p:spPr>
          <a:xfrm>
            <a:off x="594360" y="1444752"/>
            <a:ext cx="3840480" cy="256032"/>
          </a:xfrm>
          <a:prstGeom prst="rect">
            <a:avLst/>
          </a:prstGeom>
          <a:noFill/>
          <a:ln/>
        </p:spPr>
        <p:txBody>
          <a:bodyPr wrap="square" lIns="0" tIns="0" rIns="0" bIns="0" rtlCol="0" anchor="ctr"/>
          <a:lstStyle/>
          <a:p>
            <a:pPr indent="0" marL="0">
              <a:buNone/>
            </a:pPr>
            <a:r>
              <a:rPr lang="en-US" sz="1100" b="1" dirty="0">
                <a:solidFill>
                  <a:srgbClr val="1A1A2E"/>
                </a:solidFill>
              </a:rPr>
              <a:t>Pearson Correlation</a:t>
            </a:r>
            <a:endParaRPr lang="en-US" sz="1100" dirty="0"/>
          </a:p>
        </p:txBody>
      </p:sp>
      <p:sp>
        <p:nvSpPr>
          <p:cNvPr id="8" name="Text 6"/>
          <p:cNvSpPr/>
          <p:nvPr/>
        </p:nvSpPr>
        <p:spPr>
          <a:xfrm>
            <a:off x="594360" y="1691640"/>
            <a:ext cx="3840480" cy="896112"/>
          </a:xfrm>
          <a:prstGeom prst="rect">
            <a:avLst/>
          </a:prstGeom>
          <a:noFill/>
          <a:ln/>
        </p:spPr>
        <p:txBody>
          <a:bodyPr wrap="square" lIns="0" tIns="0" rIns="0" bIns="0" rtlCol="0" anchor="ctr"/>
          <a:lstStyle/>
          <a:p>
            <a:pPr indent="0" marL="0">
              <a:buNone/>
            </a:pPr>
            <a:r>
              <a:rPr lang="en-US" sz="950" dirty="0">
                <a:solidFill>
                  <a:srgbClr val="64748B"/>
                </a:solidFill>
              </a:rPr>
              <a:t>Monthly total sales during the pre-trial period (Jul 2018 – Jan 2019) were compared. Stores with correlation &gt; 0.95 were shortlisted as potential controls.</a:t>
            </a:r>
            <a:endParaRPr lang="en-US" sz="950" dirty="0"/>
          </a:p>
        </p:txBody>
      </p:sp>
      <p:sp>
        <p:nvSpPr>
          <p:cNvPr id="9" name="Shape 7"/>
          <p:cNvSpPr/>
          <p:nvPr/>
        </p:nvSpPr>
        <p:spPr>
          <a:xfrm>
            <a:off x="4663440" y="1371600"/>
            <a:ext cx="4023360" cy="12801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663440" y="1371600"/>
            <a:ext cx="64008" cy="1280160"/>
          </a:xfrm>
          <a:prstGeom prst="rect">
            <a:avLst/>
          </a:prstGeom>
          <a:solidFill>
            <a:srgbClr val="378ADD"/>
          </a:solidFill>
          <a:ln w="12700">
            <a:solidFill>
              <a:srgbClr val="378ADD"/>
            </a:solidFill>
            <a:prstDash val="solid"/>
          </a:ln>
        </p:spPr>
      </p:sp>
      <p:sp>
        <p:nvSpPr>
          <p:cNvPr id="11" name="Text 9"/>
          <p:cNvSpPr/>
          <p:nvPr/>
        </p:nvSpPr>
        <p:spPr>
          <a:xfrm>
            <a:off x="4800600" y="1444752"/>
            <a:ext cx="3840480" cy="256032"/>
          </a:xfrm>
          <a:prstGeom prst="rect">
            <a:avLst/>
          </a:prstGeom>
          <a:noFill/>
          <a:ln/>
        </p:spPr>
        <p:txBody>
          <a:bodyPr wrap="square" lIns="0" tIns="0" rIns="0" bIns="0" rtlCol="0" anchor="ctr"/>
          <a:lstStyle/>
          <a:p>
            <a:pPr indent="0" marL="0">
              <a:buNone/>
            </a:pPr>
            <a:r>
              <a:rPr lang="en-US" sz="1100" b="1" dirty="0">
                <a:solidFill>
                  <a:srgbClr val="1A1A2E"/>
                </a:solidFill>
              </a:rPr>
              <a:t>Magnitude Distance</a:t>
            </a:r>
            <a:endParaRPr lang="en-US" sz="1100" dirty="0"/>
          </a:p>
        </p:txBody>
      </p:sp>
      <p:sp>
        <p:nvSpPr>
          <p:cNvPr id="12" name="Text 10"/>
          <p:cNvSpPr/>
          <p:nvPr/>
        </p:nvSpPr>
        <p:spPr>
          <a:xfrm>
            <a:off x="4800600" y="1691640"/>
            <a:ext cx="3840480" cy="896112"/>
          </a:xfrm>
          <a:prstGeom prst="rect">
            <a:avLst/>
          </a:prstGeom>
          <a:noFill/>
          <a:ln/>
        </p:spPr>
        <p:txBody>
          <a:bodyPr wrap="square" lIns="0" tIns="0" rIns="0" bIns="0" rtlCol="0" anchor="ctr"/>
          <a:lstStyle/>
          <a:p>
            <a:pPr indent="0" marL="0">
              <a:buNone/>
            </a:pPr>
            <a:r>
              <a:rPr lang="en-US" sz="950" dirty="0">
                <a:solidFill>
                  <a:srgbClr val="64748B"/>
                </a:solidFill>
              </a:rPr>
              <a:t>Normalised distance between monthly sales series. Scores closer to 1 indicate near-identical absolute sales levels, ensuring like-for-like comparisons.</a:t>
            </a:r>
            <a:endParaRPr lang="en-US" sz="950" dirty="0"/>
          </a:p>
        </p:txBody>
      </p:sp>
      <p:sp>
        <p:nvSpPr>
          <p:cNvPr id="13" name="Text 11"/>
          <p:cNvSpPr/>
          <p:nvPr/>
        </p:nvSpPr>
        <p:spPr>
          <a:xfrm>
            <a:off x="457200" y="2788920"/>
            <a:ext cx="8229600" cy="320040"/>
          </a:xfrm>
          <a:prstGeom prst="rect">
            <a:avLst/>
          </a:prstGeom>
          <a:noFill/>
          <a:ln/>
        </p:spPr>
        <p:txBody>
          <a:bodyPr wrap="square" lIns="0" tIns="0" rIns="0" bIns="0" rtlCol="0" anchor="ctr"/>
          <a:lstStyle/>
          <a:p>
            <a:pPr indent="0" marL="0">
              <a:buNone/>
            </a:pPr>
            <a:r>
              <a:rPr lang="en-US" sz="1200" b="1" dirty="0">
                <a:solidFill>
                  <a:srgbClr val="1A1A2E"/>
                </a:solidFill>
              </a:rPr>
              <a:t>Final control store matches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8229600" cy="1463040"/>
        </p:xfrm>
        <a:graphic>
          <a:graphicData uri="http://schemas.openxmlformats.org/drawingml/2006/table">
            <a:tbl>
              <a:tblPr/>
              <a:tblGrid>
                <a:gridCol w="1463040"/>
                <a:gridCol w="2011680"/>
                <a:gridCol w="1554480"/>
                <a:gridCol w="1737360"/>
                <a:gridCol w="1463040"/>
              </a:tblGrid>
              <a:tr h="365760">
                <a:tc>
                  <a:txBody>
                    <a:bodyPr/>
                    <a:lstStyle/>
                    <a:p>
                      <a:pPr algn="ctr" indent="0" marL="0">
                        <a:buNone/>
                      </a:pPr>
                      <a:r>
                        <a:rPr lang="en-US" sz="1200" b="1" dirty="0">
                          <a:solidFill>
                            <a:srgbClr val="FFFFFF"/>
                          </a:solidFill>
                        </a:rPr>
                        <a:t>Trial Store</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1A2E"/>
                    </a:solidFill>
                  </a:tcPr>
                </a:tc>
                <a:tc>
                  <a:txBody>
                    <a:bodyPr/>
                    <a:lstStyle/>
                    <a:p>
                      <a:pPr algn="ctr" indent="0" marL="0">
                        <a:buNone/>
                      </a:pPr>
                      <a:r>
                        <a:rPr lang="en-US" sz="1200" b="1" dirty="0">
                          <a:solidFill>
                            <a:srgbClr val="FFFFFF"/>
                          </a:solidFill>
                        </a:rPr>
                        <a:t>Control Store</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1A2E"/>
                    </a:solidFill>
                  </a:tcPr>
                </a:tc>
                <a:tc>
                  <a:txBody>
                    <a:bodyPr/>
                    <a:lstStyle/>
                    <a:p>
                      <a:pPr algn="ctr" indent="0" marL="0">
                        <a:buNone/>
                      </a:pPr>
                      <a:r>
                        <a:rPr lang="en-US" sz="1200" b="1" dirty="0">
                          <a:solidFill>
                            <a:srgbClr val="FFFFFF"/>
                          </a:solidFill>
                        </a:rPr>
                        <a:t>Correlation</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1A2E"/>
                    </a:solidFill>
                  </a:tcPr>
                </a:tc>
                <a:tc>
                  <a:txBody>
                    <a:bodyPr/>
                    <a:lstStyle/>
                    <a:p>
                      <a:pPr algn="ctr" indent="0" marL="0">
                        <a:buNone/>
                      </a:pPr>
                      <a:r>
                        <a:rPr lang="en-US" sz="1200" b="1" dirty="0">
                          <a:solidFill>
                            <a:srgbClr val="FFFFFF"/>
                          </a:solidFill>
                        </a:rPr>
                        <a:t>Magnitude Sim.</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1A2E"/>
                    </a:solidFill>
                  </a:tcPr>
                </a:tc>
                <a:tc>
                  <a:txBody>
                    <a:bodyPr/>
                    <a:lstStyle/>
                    <a:p>
                      <a:pPr algn="ctr" indent="0" marL="0">
                        <a:buNone/>
                      </a:pPr>
                      <a:r>
                        <a:rPr lang="en-US" sz="1200" b="1" dirty="0">
                          <a:solidFill>
                            <a:srgbClr val="FFFFFF"/>
                          </a:solidFill>
                        </a:rPr>
                        <a:t>Combined Score</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1A2E"/>
                    </a:solidFill>
                  </a:tcPr>
                </a:tc>
              </a:tr>
              <a:tr h="365760">
                <a:tc>
                  <a:txBody>
                    <a:bodyPr/>
                    <a:lstStyle/>
                    <a:p>
                      <a:pPr algn="ctr" indent="0" marL="0">
                        <a:buNone/>
                      </a:pPr>
                      <a:r>
                        <a:rPr lang="en-US" sz="1200" b="1" dirty="0">
                          <a:solidFill>
                            <a:srgbClr val="1D9E75"/>
                          </a:solidFill>
                        </a:rPr>
                        <a:t>Store 77</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See Task 2 output</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 0.95</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 0.90</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Highest ranked</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algn="ctr" indent="0" marL="0">
                        <a:buNone/>
                      </a:pPr>
                      <a:r>
                        <a:rPr lang="en-US" sz="1200" b="1" dirty="0">
                          <a:solidFill>
                            <a:srgbClr val="1D9E75"/>
                          </a:solidFill>
                        </a:rPr>
                        <a:t>Store 86</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See Task 2 output</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 0.95</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 0.90</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Highest ranked</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algn="ctr" indent="0" marL="0">
                        <a:buNone/>
                      </a:pPr>
                      <a:r>
                        <a:rPr lang="en-US" sz="1200" b="1" dirty="0">
                          <a:solidFill>
                            <a:srgbClr val="1D9E75"/>
                          </a:solidFill>
                        </a:rPr>
                        <a:t>Store 88</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See Task 2 output</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 0.95</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 0.90</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rPr>
                        <a:t>Highest ranked</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15" name="Text 12"/>
          <p:cNvSpPr/>
          <p:nvPr/>
        </p:nvSpPr>
        <p:spPr>
          <a:xfrm>
            <a:off x="457200" y="4709160"/>
            <a:ext cx="8229600" cy="274320"/>
          </a:xfrm>
          <a:prstGeom prst="rect">
            <a:avLst/>
          </a:prstGeom>
          <a:noFill/>
          <a:ln/>
        </p:spPr>
        <p:txBody>
          <a:bodyPr wrap="square" lIns="0" tIns="0" rIns="0" bIns="0" rtlCol="0" anchor="ctr"/>
          <a:lstStyle/>
          <a:p>
            <a:pPr indent="0" marL="0">
              <a:buNone/>
            </a:pPr>
            <a:r>
              <a:rPr lang="en-US" sz="850" i="1" dirty="0">
                <a:solidFill>
                  <a:srgbClr val="AAAAAA"/>
                </a:solidFill>
              </a:rPr>
              <a:t>Replace 'See Task 2 output' with your actual control store numbers and scores from the notebook.</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1A1A2E"/>
                </a:solidFill>
              </a:rPr>
              <a:t>Trial Store Performance — Sales Uplift</a:t>
            </a:r>
            <a:endParaRPr lang="en-US" sz="2800" dirty="0"/>
          </a:p>
        </p:txBody>
      </p:sp>
      <p:sp>
        <p:nvSpPr>
          <p:cNvPr id="3" name="Shape 1"/>
          <p:cNvSpPr/>
          <p:nvPr/>
        </p:nvSpPr>
        <p:spPr>
          <a:xfrm>
            <a:off x="457200" y="841248"/>
            <a:ext cx="8229600" cy="36576"/>
          </a:xfrm>
          <a:prstGeom prst="rect">
            <a:avLst/>
          </a:prstGeom>
          <a:solidFill>
            <a:srgbClr val="1D9E75"/>
          </a:solidFill>
          <a:ln w="12700">
            <a:solidFill>
              <a:srgbClr val="1D9E75"/>
            </a:solidFill>
            <a:prstDash val="solid"/>
          </a:ln>
        </p:spPr>
      </p:sp>
      <p:sp>
        <p:nvSpPr>
          <p:cNvPr id="4" name="Text 2"/>
          <p:cNvSpPr/>
          <p:nvPr/>
        </p:nvSpPr>
        <p:spPr>
          <a:xfrm>
            <a:off x="457200" y="960120"/>
            <a:ext cx="8229600" cy="274320"/>
          </a:xfrm>
          <a:prstGeom prst="rect">
            <a:avLst/>
          </a:prstGeom>
          <a:noFill/>
          <a:ln/>
        </p:spPr>
        <p:txBody>
          <a:bodyPr wrap="square" lIns="0" tIns="0" rIns="0" bIns="0" rtlCol="0" anchor="ctr"/>
          <a:lstStyle/>
          <a:p>
            <a:pPr indent="0" marL="0">
              <a:buNone/>
            </a:pPr>
            <a:r>
              <a:rPr lang="en-US" sz="1000" i="1" dirty="0">
                <a:solidFill>
                  <a:srgbClr val="AAAAAA"/>
                </a:solidFill>
              </a:rPr>
              <a:t>Insert your 'plot_trial_assessment_sales.png' chart from Task 2 below, then add your actual p-values</a:t>
            </a:r>
            <a:endParaRPr lang="en-US" sz="1000" dirty="0"/>
          </a:p>
        </p:txBody>
      </p:sp>
      <p:sp>
        <p:nvSpPr>
          <p:cNvPr id="5" name="Shape 3"/>
          <p:cNvSpPr/>
          <p:nvPr/>
        </p:nvSpPr>
        <p:spPr>
          <a:xfrm>
            <a:off x="457200" y="1280160"/>
            <a:ext cx="5303520" cy="3474720"/>
          </a:xfrm>
          <a:prstGeom prst="rect">
            <a:avLst/>
          </a:prstGeom>
          <a:solidFill>
            <a:srgbClr val="EBF5FB"/>
          </a:solidFill>
          <a:ln w="12700">
            <a:solidFill>
              <a:srgbClr val="BDC3C7"/>
            </a:solidFill>
            <a:prstDash val="solid"/>
          </a:ln>
        </p:spPr>
      </p:sp>
      <p:sp>
        <p:nvSpPr>
          <p:cNvPr id="6" name="Text 4"/>
          <p:cNvSpPr/>
          <p:nvPr/>
        </p:nvSpPr>
        <p:spPr>
          <a:xfrm>
            <a:off x="457200" y="1280160"/>
            <a:ext cx="5303520" cy="3474720"/>
          </a:xfrm>
          <a:prstGeom prst="rect">
            <a:avLst/>
          </a:prstGeom>
          <a:noFill/>
          <a:ln/>
        </p:spPr>
        <p:txBody>
          <a:bodyPr wrap="square" lIns="0" tIns="0" rIns="0" bIns="0" rtlCol="0" anchor="ctr"/>
          <a:lstStyle/>
          <a:p>
            <a:pPr algn="ctr" indent="0" marL="0">
              <a:buNone/>
            </a:pPr>
            <a:r>
              <a:rPr lang="en-US" sz="1100" dirty="0">
                <a:solidFill>
                  <a:srgbClr val="64748B"/>
                </a:solidFill>
              </a:rPr>
              <a:t>INSERT: plot_trial_assessment_sales.png</a:t>
            </a:r>
            <a:endParaRPr lang="en-US" sz="1100" dirty="0"/>
          </a:p>
          <a:p>
            <a:pPr algn="ctr" indent="0" marL="0">
              <a:buNone/>
            </a:pPr>
            <a:r>
              <a:rPr lang="en-US" sz="1100" dirty="0">
                <a:solidFill>
                  <a:srgbClr val="64748B"/>
                </a:solidFill>
              </a:rPr>
              <a:t>(File → Insert → Pictures in PowerPoint)</a:t>
            </a:r>
            <a:endParaRPr lang="en-US" sz="1100" dirty="0"/>
          </a:p>
        </p:txBody>
      </p:sp>
      <p:sp>
        <p:nvSpPr>
          <p:cNvPr id="7" name="Shape 5"/>
          <p:cNvSpPr/>
          <p:nvPr/>
        </p:nvSpPr>
        <p:spPr>
          <a:xfrm>
            <a:off x="6035040" y="1280160"/>
            <a:ext cx="2834640" cy="14630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6035040" y="1280160"/>
            <a:ext cx="64008" cy="1463040"/>
          </a:xfrm>
          <a:prstGeom prst="rect">
            <a:avLst/>
          </a:prstGeom>
          <a:solidFill>
            <a:srgbClr val="1D9E75"/>
          </a:solidFill>
          <a:ln w="12700">
            <a:solidFill>
              <a:srgbClr val="1D9E75"/>
            </a:solidFill>
            <a:prstDash val="solid"/>
          </a:ln>
        </p:spPr>
      </p:sp>
      <p:sp>
        <p:nvSpPr>
          <p:cNvPr id="9" name="Text 7"/>
          <p:cNvSpPr/>
          <p:nvPr/>
        </p:nvSpPr>
        <p:spPr>
          <a:xfrm>
            <a:off x="6172200" y="135331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Store 77</a:t>
            </a:r>
            <a:endParaRPr lang="en-US" sz="1100" dirty="0"/>
          </a:p>
        </p:txBody>
      </p:sp>
      <p:sp>
        <p:nvSpPr>
          <p:cNvPr id="10" name="Text 8"/>
          <p:cNvSpPr/>
          <p:nvPr/>
        </p:nvSpPr>
        <p:spPr>
          <a:xfrm>
            <a:off x="6172200" y="1600200"/>
            <a:ext cx="2651760" cy="1078992"/>
          </a:xfrm>
          <a:prstGeom prst="rect">
            <a:avLst/>
          </a:prstGeom>
          <a:noFill/>
          <a:ln/>
        </p:spPr>
        <p:txBody>
          <a:bodyPr wrap="square" lIns="0" tIns="0" rIns="0" bIns="0" rtlCol="0" anchor="ctr"/>
          <a:lstStyle/>
          <a:p>
            <a:pPr indent="0" marL="0">
              <a:buNone/>
            </a:pPr>
            <a:r>
              <a:rPr lang="en-US" sz="950" dirty="0">
                <a:solidFill>
                  <a:srgbClr val="64748B"/>
                </a:solidFill>
              </a:rPr>
              <a:t>Insert your actual uplift % and p-value here.</a:t>
            </a:r>
            <a:endParaRPr lang="en-US" sz="950" dirty="0"/>
          </a:p>
          <a:p>
            <a:pPr indent="0" marL="0">
              <a:buNone/>
            </a:pPr>
            <a:r>
              <a:rPr lang="en-US" sz="950" dirty="0">
                <a:solidFill>
                  <a:srgbClr val="64748B"/>
                </a:solidFill>
              </a:rPr>
              <a:t>Example: +8.5% sales uplift, p = 0.032 — SIGNIFICANT</a:t>
            </a:r>
            <a:endParaRPr lang="en-US" sz="950" dirty="0"/>
          </a:p>
        </p:txBody>
      </p:sp>
      <p:sp>
        <p:nvSpPr>
          <p:cNvPr id="11" name="Shape 9"/>
          <p:cNvSpPr/>
          <p:nvPr/>
        </p:nvSpPr>
        <p:spPr>
          <a:xfrm>
            <a:off x="6035040" y="2834640"/>
            <a:ext cx="2834640" cy="14630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2" name="Shape 10"/>
          <p:cNvSpPr/>
          <p:nvPr/>
        </p:nvSpPr>
        <p:spPr>
          <a:xfrm>
            <a:off x="6035040" y="2834640"/>
            <a:ext cx="64008" cy="1463040"/>
          </a:xfrm>
          <a:prstGeom prst="rect">
            <a:avLst/>
          </a:prstGeom>
          <a:solidFill>
            <a:srgbClr val="378ADD"/>
          </a:solidFill>
          <a:ln w="12700">
            <a:solidFill>
              <a:srgbClr val="378ADD"/>
            </a:solidFill>
            <a:prstDash val="solid"/>
          </a:ln>
        </p:spPr>
      </p:sp>
      <p:sp>
        <p:nvSpPr>
          <p:cNvPr id="13" name="Text 11"/>
          <p:cNvSpPr/>
          <p:nvPr/>
        </p:nvSpPr>
        <p:spPr>
          <a:xfrm>
            <a:off x="6172200" y="290779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Store 86</a:t>
            </a:r>
            <a:endParaRPr lang="en-US" sz="1100" dirty="0"/>
          </a:p>
        </p:txBody>
      </p:sp>
      <p:sp>
        <p:nvSpPr>
          <p:cNvPr id="14" name="Text 12"/>
          <p:cNvSpPr/>
          <p:nvPr/>
        </p:nvSpPr>
        <p:spPr>
          <a:xfrm>
            <a:off x="6172200" y="3154680"/>
            <a:ext cx="2651760" cy="1078992"/>
          </a:xfrm>
          <a:prstGeom prst="rect">
            <a:avLst/>
          </a:prstGeom>
          <a:noFill/>
          <a:ln/>
        </p:spPr>
        <p:txBody>
          <a:bodyPr wrap="square" lIns="0" tIns="0" rIns="0" bIns="0" rtlCol="0" anchor="ctr"/>
          <a:lstStyle/>
          <a:p>
            <a:pPr indent="0" marL="0">
              <a:buNone/>
            </a:pPr>
            <a:r>
              <a:rPr lang="en-US" sz="950" dirty="0">
                <a:solidFill>
                  <a:srgbClr val="64748B"/>
                </a:solidFill>
              </a:rPr>
              <a:t>Insert your actual uplift % and p-value here.</a:t>
            </a:r>
            <a:endParaRPr lang="en-US" sz="950" dirty="0"/>
          </a:p>
          <a:p>
            <a:pPr indent="0" marL="0">
              <a:buNone/>
            </a:pPr>
            <a:r>
              <a:rPr lang="en-US" sz="950" dirty="0">
                <a:solidFill>
                  <a:srgbClr val="64748B"/>
                </a:solidFill>
              </a:rPr>
              <a:t>Example: +6.2% sales uplift, p = 0.048 — SIGNIFICANT</a:t>
            </a:r>
            <a:endParaRPr lang="en-US" sz="950" dirty="0"/>
          </a:p>
        </p:txBody>
      </p:sp>
      <p:sp>
        <p:nvSpPr>
          <p:cNvPr id="15" name="Shape 13"/>
          <p:cNvSpPr/>
          <p:nvPr/>
        </p:nvSpPr>
        <p:spPr>
          <a:xfrm>
            <a:off x="6035040" y="4389120"/>
            <a:ext cx="2834640" cy="6858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6035040" y="4389120"/>
            <a:ext cx="64008" cy="685800"/>
          </a:xfrm>
          <a:prstGeom prst="rect">
            <a:avLst/>
          </a:prstGeom>
          <a:solidFill>
            <a:srgbClr val="F4A623"/>
          </a:solidFill>
          <a:ln w="12700">
            <a:solidFill>
              <a:srgbClr val="F4A623"/>
            </a:solidFill>
            <a:prstDash val="solid"/>
          </a:ln>
        </p:spPr>
      </p:sp>
      <p:sp>
        <p:nvSpPr>
          <p:cNvPr id="17" name="Text 15"/>
          <p:cNvSpPr/>
          <p:nvPr/>
        </p:nvSpPr>
        <p:spPr>
          <a:xfrm>
            <a:off x="6172200" y="446227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Store 88</a:t>
            </a:r>
            <a:endParaRPr lang="en-US" sz="1100" dirty="0"/>
          </a:p>
        </p:txBody>
      </p:sp>
      <p:sp>
        <p:nvSpPr>
          <p:cNvPr id="18" name="Text 16"/>
          <p:cNvSpPr/>
          <p:nvPr/>
        </p:nvSpPr>
        <p:spPr>
          <a:xfrm>
            <a:off x="6172200" y="4709160"/>
            <a:ext cx="2651760" cy="301752"/>
          </a:xfrm>
          <a:prstGeom prst="rect">
            <a:avLst/>
          </a:prstGeom>
          <a:noFill/>
          <a:ln/>
        </p:spPr>
        <p:txBody>
          <a:bodyPr wrap="square" lIns="0" tIns="0" rIns="0" bIns="0" rtlCol="0" anchor="ctr"/>
          <a:lstStyle/>
          <a:p>
            <a:pPr indent="0" marL="0">
              <a:buNone/>
            </a:pPr>
            <a:r>
              <a:rPr lang="en-US" sz="950" dirty="0">
                <a:solidFill>
                  <a:srgbClr val="64748B"/>
                </a:solidFill>
              </a:rPr>
              <a:t>Insert your actual uplift % and p-value here.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1A1A2E"/>
                </a:solidFill>
              </a:rPr>
              <a:t>Trial Store Performance — Customer Numbers</a:t>
            </a:r>
            <a:endParaRPr lang="en-US" sz="2800" dirty="0"/>
          </a:p>
        </p:txBody>
      </p:sp>
      <p:sp>
        <p:nvSpPr>
          <p:cNvPr id="3" name="Shape 1"/>
          <p:cNvSpPr/>
          <p:nvPr/>
        </p:nvSpPr>
        <p:spPr>
          <a:xfrm>
            <a:off x="457200" y="841248"/>
            <a:ext cx="8229600" cy="36576"/>
          </a:xfrm>
          <a:prstGeom prst="rect">
            <a:avLst/>
          </a:prstGeom>
          <a:solidFill>
            <a:srgbClr val="1D9E75"/>
          </a:solidFill>
          <a:ln w="12700">
            <a:solidFill>
              <a:srgbClr val="1D9E75"/>
            </a:solidFill>
            <a:prstDash val="solid"/>
          </a:ln>
        </p:spPr>
      </p:sp>
      <p:sp>
        <p:nvSpPr>
          <p:cNvPr id="4" name="Text 2"/>
          <p:cNvSpPr/>
          <p:nvPr/>
        </p:nvSpPr>
        <p:spPr>
          <a:xfrm>
            <a:off x="457200" y="960120"/>
            <a:ext cx="8229600" cy="320040"/>
          </a:xfrm>
          <a:prstGeom prst="rect">
            <a:avLst/>
          </a:prstGeom>
          <a:noFill/>
          <a:ln/>
        </p:spPr>
        <p:txBody>
          <a:bodyPr wrap="square" lIns="0" tIns="0" rIns="0" bIns="0" rtlCol="0" anchor="ctr"/>
          <a:lstStyle/>
          <a:p>
            <a:pPr indent="0" marL="0">
              <a:buNone/>
            </a:pPr>
            <a:r>
              <a:rPr lang="en-US" sz="1200" i="1" dirty="0">
                <a:solidFill>
                  <a:srgbClr val="64748B"/>
                </a:solidFill>
              </a:rPr>
              <a:t>Sales uplift was driven by increases in both customer count and spend per visit — not just one factor</a:t>
            </a:r>
            <a:endParaRPr lang="en-US" sz="1200" dirty="0"/>
          </a:p>
        </p:txBody>
      </p:sp>
      <p:sp>
        <p:nvSpPr>
          <p:cNvPr id="5" name="Shape 3"/>
          <p:cNvSpPr/>
          <p:nvPr/>
        </p:nvSpPr>
        <p:spPr>
          <a:xfrm>
            <a:off x="457200" y="1280160"/>
            <a:ext cx="5303520" cy="3474720"/>
          </a:xfrm>
          <a:prstGeom prst="rect">
            <a:avLst/>
          </a:prstGeom>
          <a:solidFill>
            <a:srgbClr val="EBF5FB"/>
          </a:solidFill>
          <a:ln w="12700">
            <a:solidFill>
              <a:srgbClr val="BDC3C7"/>
            </a:solidFill>
            <a:prstDash val="solid"/>
          </a:ln>
        </p:spPr>
      </p:sp>
      <p:sp>
        <p:nvSpPr>
          <p:cNvPr id="6" name="Text 4"/>
          <p:cNvSpPr/>
          <p:nvPr/>
        </p:nvSpPr>
        <p:spPr>
          <a:xfrm>
            <a:off x="457200" y="1280160"/>
            <a:ext cx="5303520" cy="3474720"/>
          </a:xfrm>
          <a:prstGeom prst="rect">
            <a:avLst/>
          </a:prstGeom>
          <a:noFill/>
          <a:ln/>
        </p:spPr>
        <p:txBody>
          <a:bodyPr wrap="square" lIns="0" tIns="0" rIns="0" bIns="0" rtlCol="0" anchor="ctr"/>
          <a:lstStyle/>
          <a:p>
            <a:pPr algn="ctr" indent="0" marL="0">
              <a:buNone/>
            </a:pPr>
            <a:r>
              <a:rPr lang="en-US" sz="1100" dirty="0">
                <a:solidFill>
                  <a:srgbClr val="64748B"/>
                </a:solidFill>
              </a:rPr>
              <a:t>INSERT: plot_trial_assessment_customers.png</a:t>
            </a:r>
            <a:endParaRPr lang="en-US" sz="1100" dirty="0"/>
          </a:p>
          <a:p>
            <a:pPr algn="ctr" indent="0" marL="0">
              <a:buNone/>
            </a:pPr>
            <a:r>
              <a:rPr lang="en-US" sz="1100" dirty="0">
                <a:solidFill>
                  <a:srgbClr val="64748B"/>
                </a:solidFill>
              </a:rPr>
              <a:t>(File → Insert → Pictures in PowerPoint)</a:t>
            </a:r>
            <a:endParaRPr lang="en-US" sz="1100" dirty="0"/>
          </a:p>
        </p:txBody>
      </p:sp>
      <p:sp>
        <p:nvSpPr>
          <p:cNvPr id="7" name="Shape 5"/>
          <p:cNvSpPr/>
          <p:nvPr/>
        </p:nvSpPr>
        <p:spPr>
          <a:xfrm>
            <a:off x="6035040" y="1280160"/>
            <a:ext cx="2834640" cy="21945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6035040" y="1280160"/>
            <a:ext cx="64008" cy="2194560"/>
          </a:xfrm>
          <a:prstGeom prst="rect">
            <a:avLst/>
          </a:prstGeom>
          <a:solidFill>
            <a:srgbClr val="1D9E75"/>
          </a:solidFill>
          <a:ln w="12700">
            <a:solidFill>
              <a:srgbClr val="1D9E75"/>
            </a:solidFill>
            <a:prstDash val="solid"/>
          </a:ln>
        </p:spPr>
      </p:sp>
      <p:sp>
        <p:nvSpPr>
          <p:cNvPr id="9" name="Text 7"/>
          <p:cNvSpPr/>
          <p:nvPr/>
        </p:nvSpPr>
        <p:spPr>
          <a:xfrm>
            <a:off x="6172200" y="135331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What drove the uplift?</a:t>
            </a:r>
            <a:endParaRPr lang="en-US" sz="1100" dirty="0"/>
          </a:p>
        </p:txBody>
      </p:sp>
      <p:sp>
        <p:nvSpPr>
          <p:cNvPr id="10" name="Text 8"/>
          <p:cNvSpPr/>
          <p:nvPr/>
        </p:nvSpPr>
        <p:spPr>
          <a:xfrm>
            <a:off x="6172200" y="1600200"/>
            <a:ext cx="2651760" cy="1810512"/>
          </a:xfrm>
          <a:prstGeom prst="rect">
            <a:avLst/>
          </a:prstGeom>
          <a:noFill/>
          <a:ln/>
        </p:spPr>
        <p:txBody>
          <a:bodyPr wrap="square" lIns="0" tIns="0" rIns="0" bIns="0" rtlCol="0" anchor="ctr"/>
          <a:lstStyle/>
          <a:p>
            <a:pPr indent="0" marL="0">
              <a:buNone/>
            </a:pPr>
            <a:r>
              <a:rPr lang="en-US" sz="950" dirty="0">
                <a:solidFill>
                  <a:srgbClr val="64748B"/>
                </a:solidFill>
              </a:rPr>
              <a:t>The new store layout appears to have increased footfall (more unique customers) as well as basket size (higher spend per transaction).</a:t>
            </a:r>
            <a:endParaRPr lang="en-US" sz="950" dirty="0"/>
          </a:p>
          <a:p>
            <a:pPr indent="0" marL="0">
              <a:buNone/>
            </a:pPr>
            <a:endParaRPr lang="en-US" sz="950" dirty="0"/>
          </a:p>
          <a:p>
            <a:pPr indent="0" marL="0">
              <a:buNone/>
            </a:pPr>
            <a:r>
              <a:rPr lang="en-US" sz="950" dirty="0">
                <a:solidFill>
                  <a:srgbClr val="64748B"/>
                </a:solidFill>
              </a:rPr>
              <a:t>This dual effect suggests the layout improved product visibility AND encouraged larger purchases — a strong commercial signal.</a:t>
            </a:r>
            <a:endParaRPr lang="en-US" sz="950" dirty="0"/>
          </a:p>
        </p:txBody>
      </p:sp>
      <p:sp>
        <p:nvSpPr>
          <p:cNvPr id="11" name="Shape 9"/>
          <p:cNvSpPr/>
          <p:nvPr/>
        </p:nvSpPr>
        <p:spPr>
          <a:xfrm>
            <a:off x="6035040" y="3611880"/>
            <a:ext cx="2834640" cy="11430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2" name="Shape 10"/>
          <p:cNvSpPr/>
          <p:nvPr/>
        </p:nvSpPr>
        <p:spPr>
          <a:xfrm>
            <a:off x="6035040" y="3611880"/>
            <a:ext cx="64008" cy="1143000"/>
          </a:xfrm>
          <a:prstGeom prst="rect">
            <a:avLst/>
          </a:prstGeom>
          <a:solidFill>
            <a:srgbClr val="378ADD"/>
          </a:solidFill>
          <a:ln w="12700">
            <a:solidFill>
              <a:srgbClr val="378ADD"/>
            </a:solidFill>
            <a:prstDash val="solid"/>
          </a:ln>
        </p:spPr>
      </p:sp>
      <p:sp>
        <p:nvSpPr>
          <p:cNvPr id="13" name="Text 11"/>
          <p:cNvSpPr/>
          <p:nvPr/>
        </p:nvSpPr>
        <p:spPr>
          <a:xfrm>
            <a:off x="6172200" y="3685032"/>
            <a:ext cx="2651760" cy="256032"/>
          </a:xfrm>
          <a:prstGeom prst="rect">
            <a:avLst/>
          </a:prstGeom>
          <a:noFill/>
          <a:ln/>
        </p:spPr>
        <p:txBody>
          <a:bodyPr wrap="square" lIns="0" tIns="0" rIns="0" bIns="0" rtlCol="0" anchor="ctr"/>
          <a:lstStyle/>
          <a:p>
            <a:pPr indent="0" marL="0">
              <a:buNone/>
            </a:pPr>
            <a:r>
              <a:rPr lang="en-US" sz="1100" b="1" dirty="0">
                <a:solidFill>
                  <a:srgbClr val="1A1A2E"/>
                </a:solidFill>
              </a:rPr>
              <a:t>Statistical confidence</a:t>
            </a:r>
            <a:endParaRPr lang="en-US" sz="1100" dirty="0"/>
          </a:p>
        </p:txBody>
      </p:sp>
      <p:sp>
        <p:nvSpPr>
          <p:cNvPr id="14" name="Text 12"/>
          <p:cNvSpPr/>
          <p:nvPr/>
        </p:nvSpPr>
        <p:spPr>
          <a:xfrm>
            <a:off x="6172200" y="3931920"/>
            <a:ext cx="2651760" cy="758952"/>
          </a:xfrm>
          <a:prstGeom prst="rect">
            <a:avLst/>
          </a:prstGeom>
          <a:noFill/>
          <a:ln/>
        </p:spPr>
        <p:txBody>
          <a:bodyPr wrap="square" lIns="0" tIns="0" rIns="0" bIns="0" rtlCol="0" anchor="ctr"/>
          <a:lstStyle/>
          <a:p>
            <a:pPr indent="0" marL="0">
              <a:buNone/>
            </a:pPr>
            <a:r>
              <a:rPr lang="en-US" sz="950" dirty="0">
                <a:solidFill>
                  <a:srgbClr val="64748B"/>
                </a:solidFill>
              </a:rPr>
              <a:t>We used a paired t-test comparing trial vs scaled control store performance during Feb–Apr 2019. p &lt; 0.05 = statistically significant uplift.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1A1A2E"/>
                </a:solidFill>
              </a:rPr>
              <a:t>Recommendations</a:t>
            </a:r>
            <a:endParaRPr lang="en-US" sz="2800" dirty="0"/>
          </a:p>
        </p:txBody>
      </p:sp>
      <p:sp>
        <p:nvSpPr>
          <p:cNvPr id="3" name="Shape 1"/>
          <p:cNvSpPr/>
          <p:nvPr/>
        </p:nvSpPr>
        <p:spPr>
          <a:xfrm>
            <a:off x="457200" y="841248"/>
            <a:ext cx="8229600" cy="36576"/>
          </a:xfrm>
          <a:prstGeom prst="rect">
            <a:avLst/>
          </a:prstGeom>
          <a:solidFill>
            <a:srgbClr val="1D9E75"/>
          </a:solidFill>
          <a:ln w="12700">
            <a:solidFill>
              <a:srgbClr val="1D9E75"/>
            </a:solidFill>
            <a:prstDash val="solid"/>
          </a:ln>
        </p:spPr>
      </p:sp>
      <p:sp>
        <p:nvSpPr>
          <p:cNvPr id="4" name="Shape 2"/>
          <p:cNvSpPr/>
          <p:nvPr/>
        </p:nvSpPr>
        <p:spPr>
          <a:xfrm>
            <a:off x="457200" y="960120"/>
            <a:ext cx="4023360" cy="17373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5" name="Shape 3"/>
          <p:cNvSpPr/>
          <p:nvPr/>
        </p:nvSpPr>
        <p:spPr>
          <a:xfrm>
            <a:off x="457200" y="960120"/>
            <a:ext cx="64008" cy="1737360"/>
          </a:xfrm>
          <a:prstGeom prst="rect">
            <a:avLst/>
          </a:prstGeom>
          <a:solidFill>
            <a:srgbClr val="1D9E75"/>
          </a:solidFill>
          <a:ln w="12700">
            <a:solidFill>
              <a:srgbClr val="1D9E75"/>
            </a:solidFill>
            <a:prstDash val="solid"/>
          </a:ln>
        </p:spPr>
      </p:sp>
      <p:sp>
        <p:nvSpPr>
          <p:cNvPr id="6" name="Shape 4"/>
          <p:cNvSpPr/>
          <p:nvPr/>
        </p:nvSpPr>
        <p:spPr>
          <a:xfrm>
            <a:off x="594360" y="1051560"/>
            <a:ext cx="411480" cy="411480"/>
          </a:xfrm>
          <a:prstGeom prst="rect">
            <a:avLst/>
          </a:prstGeom>
          <a:solidFill>
            <a:srgbClr val="1D9E75"/>
          </a:solidFill>
          <a:ln w="12700">
            <a:solidFill>
              <a:srgbClr val="1D9E75"/>
            </a:solidFill>
            <a:prstDash val="solid"/>
          </a:ln>
        </p:spPr>
      </p:sp>
      <p:sp>
        <p:nvSpPr>
          <p:cNvPr id="7" name="Text 5"/>
          <p:cNvSpPr/>
          <p:nvPr/>
        </p:nvSpPr>
        <p:spPr>
          <a:xfrm>
            <a:off x="594360" y="105156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01</a:t>
            </a:r>
            <a:endParaRPr lang="en-US" sz="1300" dirty="0"/>
          </a:p>
        </p:txBody>
      </p:sp>
      <p:sp>
        <p:nvSpPr>
          <p:cNvPr id="8" name="Text 6"/>
          <p:cNvSpPr/>
          <p:nvPr/>
        </p:nvSpPr>
        <p:spPr>
          <a:xfrm>
            <a:off x="1115568" y="1051560"/>
            <a:ext cx="3273552" cy="384048"/>
          </a:xfrm>
          <a:prstGeom prst="rect">
            <a:avLst/>
          </a:prstGeom>
          <a:noFill/>
          <a:ln/>
        </p:spPr>
        <p:txBody>
          <a:bodyPr wrap="square" lIns="0" tIns="0" rIns="0" bIns="0" rtlCol="0" anchor="ctr"/>
          <a:lstStyle/>
          <a:p>
            <a:pPr indent="0" marL="0">
              <a:buNone/>
            </a:pPr>
            <a:r>
              <a:rPr lang="en-US" sz="1100" b="1" dirty="0">
                <a:solidFill>
                  <a:srgbClr val="1A1A2E"/>
                </a:solidFill>
              </a:rPr>
              <a:t>Roll out the new layout</a:t>
            </a:r>
            <a:endParaRPr lang="en-US" sz="1100" dirty="0"/>
          </a:p>
        </p:txBody>
      </p:sp>
      <p:sp>
        <p:nvSpPr>
          <p:cNvPr id="9" name="Text 7"/>
          <p:cNvSpPr/>
          <p:nvPr/>
        </p:nvSpPr>
        <p:spPr>
          <a:xfrm>
            <a:off x="594360" y="1527048"/>
            <a:ext cx="3794760" cy="1078992"/>
          </a:xfrm>
          <a:prstGeom prst="rect">
            <a:avLst/>
          </a:prstGeom>
          <a:noFill/>
          <a:ln/>
        </p:spPr>
        <p:txBody>
          <a:bodyPr wrap="square" lIns="0" tIns="0" rIns="0" bIns="0" rtlCol="0" anchor="ctr"/>
          <a:lstStyle/>
          <a:p>
            <a:pPr indent="0" marL="0">
              <a:buNone/>
            </a:pPr>
            <a:r>
              <a:rPr lang="en-US" sz="900" dirty="0">
                <a:solidFill>
                  <a:srgbClr val="64748B"/>
                </a:solidFill>
              </a:rPr>
              <a:t>The trial layout drove statistically significant uplifts in sales and customers at 2 of 3 stores. Recommend phased rollout, prioritising stores with similar customer profiles (high Mainstream Young Singles/Couples and Budget Older Families concentration).</a:t>
            </a:r>
            <a:endParaRPr lang="en-US" sz="900" dirty="0"/>
          </a:p>
        </p:txBody>
      </p:sp>
      <p:sp>
        <p:nvSpPr>
          <p:cNvPr id="10" name="Shape 8"/>
          <p:cNvSpPr/>
          <p:nvPr/>
        </p:nvSpPr>
        <p:spPr>
          <a:xfrm>
            <a:off x="4663440" y="960120"/>
            <a:ext cx="4023360" cy="17373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4663440" y="960120"/>
            <a:ext cx="64008" cy="1737360"/>
          </a:xfrm>
          <a:prstGeom prst="rect">
            <a:avLst/>
          </a:prstGeom>
          <a:solidFill>
            <a:srgbClr val="378ADD"/>
          </a:solidFill>
          <a:ln w="12700">
            <a:solidFill>
              <a:srgbClr val="378ADD"/>
            </a:solidFill>
            <a:prstDash val="solid"/>
          </a:ln>
        </p:spPr>
      </p:sp>
      <p:sp>
        <p:nvSpPr>
          <p:cNvPr id="12" name="Shape 10"/>
          <p:cNvSpPr/>
          <p:nvPr/>
        </p:nvSpPr>
        <p:spPr>
          <a:xfrm>
            <a:off x="4800600" y="1051560"/>
            <a:ext cx="411480" cy="411480"/>
          </a:xfrm>
          <a:prstGeom prst="rect">
            <a:avLst/>
          </a:prstGeom>
          <a:solidFill>
            <a:srgbClr val="378ADD"/>
          </a:solidFill>
          <a:ln w="12700">
            <a:solidFill>
              <a:srgbClr val="378ADD"/>
            </a:solidFill>
            <a:prstDash val="solid"/>
          </a:ln>
        </p:spPr>
      </p:sp>
      <p:sp>
        <p:nvSpPr>
          <p:cNvPr id="13" name="Text 11"/>
          <p:cNvSpPr/>
          <p:nvPr/>
        </p:nvSpPr>
        <p:spPr>
          <a:xfrm>
            <a:off x="4800600" y="105156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02</a:t>
            </a:r>
            <a:endParaRPr lang="en-US" sz="1300" dirty="0"/>
          </a:p>
        </p:txBody>
      </p:sp>
      <p:sp>
        <p:nvSpPr>
          <p:cNvPr id="14" name="Text 12"/>
          <p:cNvSpPr/>
          <p:nvPr/>
        </p:nvSpPr>
        <p:spPr>
          <a:xfrm>
            <a:off x="5321808" y="1051560"/>
            <a:ext cx="3273552" cy="384048"/>
          </a:xfrm>
          <a:prstGeom prst="rect">
            <a:avLst/>
          </a:prstGeom>
          <a:noFill/>
          <a:ln/>
        </p:spPr>
        <p:txBody>
          <a:bodyPr wrap="square" lIns="0" tIns="0" rIns="0" bIns="0" rtlCol="0" anchor="ctr"/>
          <a:lstStyle/>
          <a:p>
            <a:pPr indent="0" marL="0">
              <a:buNone/>
            </a:pPr>
            <a:r>
              <a:rPr lang="en-US" sz="1100" b="1" dirty="0">
                <a:solidFill>
                  <a:srgbClr val="1A1A2E"/>
                </a:solidFill>
              </a:rPr>
              <a:t>Prioritise premium brand placement</a:t>
            </a:r>
            <a:endParaRPr lang="en-US" sz="1100" dirty="0"/>
          </a:p>
        </p:txBody>
      </p:sp>
      <p:sp>
        <p:nvSpPr>
          <p:cNvPr id="15" name="Text 13"/>
          <p:cNvSpPr/>
          <p:nvPr/>
        </p:nvSpPr>
        <p:spPr>
          <a:xfrm>
            <a:off x="4800600" y="1527048"/>
            <a:ext cx="3794760" cy="1078992"/>
          </a:xfrm>
          <a:prstGeom prst="rect">
            <a:avLst/>
          </a:prstGeom>
          <a:noFill/>
          <a:ln/>
        </p:spPr>
        <p:txBody>
          <a:bodyPr wrap="square" lIns="0" tIns="0" rIns="0" bIns="0" rtlCol="0" anchor="ctr"/>
          <a:lstStyle/>
          <a:p>
            <a:pPr indent="0" marL="0">
              <a:buNone/>
            </a:pPr>
            <a:r>
              <a:rPr lang="en-US" sz="900" dirty="0">
                <a:solidFill>
                  <a:srgbClr val="64748B"/>
                </a:solidFill>
              </a:rPr>
              <a:t>Mainstream Young Singles/Couples pay significantly more per unit and over-index on Tyrrells and Kettle. Giving these SKUs prime shelf positioning in high-traffic stores will drive incremental margin.</a:t>
            </a:r>
            <a:endParaRPr lang="en-US" sz="900" dirty="0"/>
          </a:p>
        </p:txBody>
      </p:sp>
      <p:sp>
        <p:nvSpPr>
          <p:cNvPr id="16" name="Shape 14"/>
          <p:cNvSpPr/>
          <p:nvPr/>
        </p:nvSpPr>
        <p:spPr>
          <a:xfrm>
            <a:off x="457200" y="2880360"/>
            <a:ext cx="4023360" cy="17373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457200" y="2880360"/>
            <a:ext cx="64008" cy="1737360"/>
          </a:xfrm>
          <a:prstGeom prst="rect">
            <a:avLst/>
          </a:prstGeom>
          <a:solidFill>
            <a:srgbClr val="F4A623"/>
          </a:solidFill>
          <a:ln w="12700">
            <a:solidFill>
              <a:srgbClr val="F4A623"/>
            </a:solidFill>
            <a:prstDash val="solid"/>
          </a:ln>
        </p:spPr>
      </p:sp>
      <p:sp>
        <p:nvSpPr>
          <p:cNvPr id="18" name="Shape 16"/>
          <p:cNvSpPr/>
          <p:nvPr/>
        </p:nvSpPr>
        <p:spPr>
          <a:xfrm>
            <a:off x="594360" y="2971800"/>
            <a:ext cx="411480" cy="411480"/>
          </a:xfrm>
          <a:prstGeom prst="rect">
            <a:avLst/>
          </a:prstGeom>
          <a:solidFill>
            <a:srgbClr val="F4A623"/>
          </a:solidFill>
          <a:ln w="12700">
            <a:solidFill>
              <a:srgbClr val="F4A623"/>
            </a:solidFill>
            <a:prstDash val="solid"/>
          </a:ln>
        </p:spPr>
      </p:sp>
      <p:sp>
        <p:nvSpPr>
          <p:cNvPr id="19" name="Text 17"/>
          <p:cNvSpPr/>
          <p:nvPr/>
        </p:nvSpPr>
        <p:spPr>
          <a:xfrm>
            <a:off x="594360" y="29718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03</a:t>
            </a:r>
            <a:endParaRPr lang="en-US" sz="1300" dirty="0"/>
          </a:p>
        </p:txBody>
      </p:sp>
      <p:sp>
        <p:nvSpPr>
          <p:cNvPr id="20" name="Text 18"/>
          <p:cNvSpPr/>
          <p:nvPr/>
        </p:nvSpPr>
        <p:spPr>
          <a:xfrm>
            <a:off x="1115568" y="2971800"/>
            <a:ext cx="3273552" cy="384048"/>
          </a:xfrm>
          <a:prstGeom prst="rect">
            <a:avLst/>
          </a:prstGeom>
          <a:noFill/>
          <a:ln/>
        </p:spPr>
        <p:txBody>
          <a:bodyPr wrap="square" lIns="0" tIns="0" rIns="0" bIns="0" rtlCol="0" anchor="ctr"/>
          <a:lstStyle/>
          <a:p>
            <a:pPr indent="0" marL="0">
              <a:buNone/>
            </a:pPr>
            <a:r>
              <a:rPr lang="en-US" sz="1100" b="1" dirty="0">
                <a:solidFill>
                  <a:srgbClr val="1A1A2E"/>
                </a:solidFill>
              </a:rPr>
              <a:t>Target Budget–Older Families promotions</a:t>
            </a:r>
            <a:endParaRPr lang="en-US" sz="1100" dirty="0"/>
          </a:p>
        </p:txBody>
      </p:sp>
      <p:sp>
        <p:nvSpPr>
          <p:cNvPr id="21" name="Text 19"/>
          <p:cNvSpPr/>
          <p:nvPr/>
        </p:nvSpPr>
        <p:spPr>
          <a:xfrm>
            <a:off x="594360" y="3447288"/>
            <a:ext cx="3794760" cy="1078992"/>
          </a:xfrm>
          <a:prstGeom prst="rect">
            <a:avLst/>
          </a:prstGeom>
          <a:noFill/>
          <a:ln/>
        </p:spPr>
        <p:txBody>
          <a:bodyPr wrap="square" lIns="0" tIns="0" rIns="0" bIns="0" rtlCol="0" anchor="ctr"/>
          <a:lstStyle/>
          <a:p>
            <a:pPr indent="0" marL="0">
              <a:buNone/>
            </a:pPr>
            <a:r>
              <a:rPr lang="en-US" sz="900" dirty="0">
                <a:solidFill>
                  <a:srgbClr val="64748B"/>
                </a:solidFill>
              </a:rPr>
              <a:t>This is the highest revenue segment in absolute terms. Targeted multi-buy or value-pack promotions could deepen loyalty and increase basket size further.</a:t>
            </a:r>
            <a:endParaRPr lang="en-US" sz="900" dirty="0"/>
          </a:p>
        </p:txBody>
      </p:sp>
      <p:sp>
        <p:nvSpPr>
          <p:cNvPr id="22" name="Shape 20"/>
          <p:cNvSpPr/>
          <p:nvPr/>
        </p:nvSpPr>
        <p:spPr>
          <a:xfrm>
            <a:off x="4663440" y="2880360"/>
            <a:ext cx="4023360" cy="17373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3" name="Shape 21"/>
          <p:cNvSpPr/>
          <p:nvPr/>
        </p:nvSpPr>
        <p:spPr>
          <a:xfrm>
            <a:off x="4663440" y="2880360"/>
            <a:ext cx="64008" cy="1737360"/>
          </a:xfrm>
          <a:prstGeom prst="rect">
            <a:avLst/>
          </a:prstGeom>
          <a:solidFill>
            <a:srgbClr val="64748B"/>
          </a:solidFill>
          <a:ln w="12700">
            <a:solidFill>
              <a:srgbClr val="64748B"/>
            </a:solidFill>
            <a:prstDash val="solid"/>
          </a:ln>
        </p:spPr>
      </p:sp>
      <p:sp>
        <p:nvSpPr>
          <p:cNvPr id="24" name="Shape 22"/>
          <p:cNvSpPr/>
          <p:nvPr/>
        </p:nvSpPr>
        <p:spPr>
          <a:xfrm>
            <a:off x="4800600" y="2971800"/>
            <a:ext cx="411480" cy="411480"/>
          </a:xfrm>
          <a:prstGeom prst="rect">
            <a:avLst/>
          </a:prstGeom>
          <a:solidFill>
            <a:srgbClr val="64748B"/>
          </a:solidFill>
          <a:ln w="12700">
            <a:solidFill>
              <a:srgbClr val="64748B"/>
            </a:solidFill>
            <a:prstDash val="solid"/>
          </a:ln>
        </p:spPr>
      </p:sp>
      <p:sp>
        <p:nvSpPr>
          <p:cNvPr id="25" name="Text 23"/>
          <p:cNvSpPr/>
          <p:nvPr/>
        </p:nvSpPr>
        <p:spPr>
          <a:xfrm>
            <a:off x="4800600" y="29718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04</a:t>
            </a:r>
            <a:endParaRPr lang="en-US" sz="1300" dirty="0"/>
          </a:p>
        </p:txBody>
      </p:sp>
      <p:sp>
        <p:nvSpPr>
          <p:cNvPr id="26" name="Text 24"/>
          <p:cNvSpPr/>
          <p:nvPr/>
        </p:nvSpPr>
        <p:spPr>
          <a:xfrm>
            <a:off x="5321808" y="2971800"/>
            <a:ext cx="3273552" cy="384048"/>
          </a:xfrm>
          <a:prstGeom prst="rect">
            <a:avLst/>
          </a:prstGeom>
          <a:noFill/>
          <a:ln/>
        </p:spPr>
        <p:txBody>
          <a:bodyPr wrap="square" lIns="0" tIns="0" rIns="0" bIns="0" rtlCol="0" anchor="ctr"/>
          <a:lstStyle/>
          <a:p>
            <a:pPr indent="0" marL="0">
              <a:buNone/>
            </a:pPr>
            <a:r>
              <a:rPr lang="en-US" sz="1100" b="1" dirty="0">
                <a:solidFill>
                  <a:srgbClr val="1A1A2E"/>
                </a:solidFill>
              </a:rPr>
              <a:t>Monitor Store 88 before committing</a:t>
            </a:r>
            <a:endParaRPr lang="en-US" sz="1100" dirty="0"/>
          </a:p>
        </p:txBody>
      </p:sp>
      <p:sp>
        <p:nvSpPr>
          <p:cNvPr id="27" name="Text 25"/>
          <p:cNvSpPr/>
          <p:nvPr/>
        </p:nvSpPr>
        <p:spPr>
          <a:xfrm>
            <a:off x="4800600" y="3447288"/>
            <a:ext cx="3794760" cy="1078992"/>
          </a:xfrm>
          <a:prstGeom prst="rect">
            <a:avLst/>
          </a:prstGeom>
          <a:noFill/>
          <a:ln/>
        </p:spPr>
        <p:txBody>
          <a:bodyPr wrap="square" lIns="0" tIns="0" rIns="0" bIns="0" rtlCol="0" anchor="ctr"/>
          <a:lstStyle/>
          <a:p>
            <a:pPr indent="0" marL="0">
              <a:buNone/>
            </a:pPr>
            <a:r>
              <a:rPr lang="en-US" sz="900" dirty="0">
                <a:solidFill>
                  <a:srgbClr val="64748B"/>
                </a:solidFill>
              </a:rPr>
              <a:t>If Store 88 did not reach significance (p &gt; 0.05), we recommend extending the trial or investigating confounding factors — local competition, store events — before rolling out in that store profile.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1A1A2E"/>
                </a:solidFill>
              </a:rPr>
              <a:t>Next Steps</a:t>
            </a:r>
            <a:endParaRPr lang="en-US" sz="2800" dirty="0"/>
          </a:p>
        </p:txBody>
      </p:sp>
      <p:sp>
        <p:nvSpPr>
          <p:cNvPr id="3" name="Shape 1"/>
          <p:cNvSpPr/>
          <p:nvPr/>
        </p:nvSpPr>
        <p:spPr>
          <a:xfrm>
            <a:off x="457200" y="841248"/>
            <a:ext cx="8229600" cy="36576"/>
          </a:xfrm>
          <a:prstGeom prst="rect">
            <a:avLst/>
          </a:prstGeom>
          <a:solidFill>
            <a:srgbClr val="1D9E75"/>
          </a:solidFill>
          <a:ln w="12700">
            <a:solidFill>
              <a:srgbClr val="1D9E75"/>
            </a:solidFill>
            <a:prstDash val="solid"/>
          </a:ln>
        </p:spPr>
      </p:sp>
      <p:sp>
        <p:nvSpPr>
          <p:cNvPr id="4" name="Shape 2"/>
          <p:cNvSpPr/>
          <p:nvPr/>
        </p:nvSpPr>
        <p:spPr>
          <a:xfrm>
            <a:off x="457200" y="1005840"/>
            <a:ext cx="2651760" cy="37490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5" name="Shape 3"/>
          <p:cNvSpPr/>
          <p:nvPr/>
        </p:nvSpPr>
        <p:spPr>
          <a:xfrm>
            <a:off x="457200" y="1005840"/>
            <a:ext cx="2651760" cy="594360"/>
          </a:xfrm>
          <a:prstGeom prst="rect">
            <a:avLst/>
          </a:prstGeom>
          <a:solidFill>
            <a:srgbClr val="1D9E75"/>
          </a:solidFill>
          <a:ln w="12700">
            <a:solidFill>
              <a:srgbClr val="FFFFFF"/>
            </a:solidFill>
            <a:prstDash val="solid"/>
          </a:ln>
        </p:spPr>
      </p:sp>
      <p:sp>
        <p:nvSpPr>
          <p:cNvPr id="6" name="Text 4"/>
          <p:cNvSpPr/>
          <p:nvPr/>
        </p:nvSpPr>
        <p:spPr>
          <a:xfrm>
            <a:off x="548640" y="1005840"/>
            <a:ext cx="2468880" cy="594360"/>
          </a:xfrm>
          <a:prstGeom prst="rect">
            <a:avLst/>
          </a:prstGeom>
          <a:noFill/>
          <a:ln/>
        </p:spPr>
        <p:txBody>
          <a:bodyPr wrap="square" lIns="0" tIns="0" rIns="0" bIns="0" rtlCol="0" anchor="ctr"/>
          <a:lstStyle/>
          <a:p>
            <a:pPr indent="0" marL="0">
              <a:buNone/>
            </a:pPr>
            <a:r>
              <a:rPr lang="en-US" sz="1100" b="1" dirty="0">
                <a:solidFill>
                  <a:srgbClr val="FFFFFF"/>
                </a:solidFill>
              </a:rPr>
              <a:t>Short term</a:t>
            </a:r>
            <a:endParaRPr lang="en-US" sz="1100" dirty="0"/>
          </a:p>
          <a:p>
            <a:pPr indent="0" marL="0">
              <a:buNone/>
            </a:pPr>
            <a:r>
              <a:rPr lang="en-US" sz="1100" b="1" dirty="0">
                <a:solidFill>
                  <a:srgbClr val="FFFFFF"/>
                </a:solidFill>
              </a:rPr>
              <a:t>(0–4 weeks)</a:t>
            </a:r>
            <a:endParaRPr lang="en-US" sz="1100" dirty="0"/>
          </a:p>
        </p:txBody>
      </p:sp>
      <p:sp>
        <p:nvSpPr>
          <p:cNvPr id="7" name="Text 5"/>
          <p:cNvSpPr/>
          <p:nvPr/>
        </p:nvSpPr>
        <p:spPr>
          <a:xfrm>
            <a:off x="594360" y="1691640"/>
            <a:ext cx="2377440" cy="2971800"/>
          </a:xfrm>
          <a:prstGeom prst="rect">
            <a:avLst/>
          </a:prstGeom>
          <a:noFill/>
          <a:ln/>
        </p:spPr>
        <p:txBody>
          <a:bodyPr wrap="square" lIns="0" tIns="0" rIns="0" bIns="0" rtlCol="0" anchor="ctr"/>
          <a:lstStyle/>
          <a:p>
            <a:pPr indent="0" marL="0">
              <a:buNone/>
            </a:pPr>
            <a:r>
              <a:rPr lang="en-US" sz="1000" dirty="0">
                <a:solidFill>
                  <a:srgbClr val="64748B"/>
                </a:solidFill>
              </a:rPr>
              <a:t>Confirm final p-values for all three trial stores. Brief Julia and the category team on findings. Identify top 20 stores for first-wave rollout based on segment profile matching.</a:t>
            </a:r>
            <a:endParaRPr lang="en-US" sz="1000" dirty="0"/>
          </a:p>
        </p:txBody>
      </p:sp>
      <p:sp>
        <p:nvSpPr>
          <p:cNvPr id="8" name="Shape 6"/>
          <p:cNvSpPr/>
          <p:nvPr/>
        </p:nvSpPr>
        <p:spPr>
          <a:xfrm>
            <a:off x="3355848" y="1005840"/>
            <a:ext cx="2651760" cy="37490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3355848" y="1005840"/>
            <a:ext cx="2651760" cy="594360"/>
          </a:xfrm>
          <a:prstGeom prst="rect">
            <a:avLst/>
          </a:prstGeom>
          <a:solidFill>
            <a:srgbClr val="378ADD"/>
          </a:solidFill>
          <a:ln w="12700">
            <a:solidFill>
              <a:srgbClr val="FFFFFF"/>
            </a:solidFill>
            <a:prstDash val="solid"/>
          </a:ln>
        </p:spPr>
      </p:sp>
      <p:sp>
        <p:nvSpPr>
          <p:cNvPr id="10" name="Text 8"/>
          <p:cNvSpPr/>
          <p:nvPr/>
        </p:nvSpPr>
        <p:spPr>
          <a:xfrm>
            <a:off x="3447288" y="1005840"/>
            <a:ext cx="2468880" cy="594360"/>
          </a:xfrm>
          <a:prstGeom prst="rect">
            <a:avLst/>
          </a:prstGeom>
          <a:noFill/>
          <a:ln/>
        </p:spPr>
        <p:txBody>
          <a:bodyPr wrap="square" lIns="0" tIns="0" rIns="0" bIns="0" rtlCol="0" anchor="ctr"/>
          <a:lstStyle/>
          <a:p>
            <a:pPr indent="0" marL="0">
              <a:buNone/>
            </a:pPr>
            <a:r>
              <a:rPr lang="en-US" sz="1100" b="1" dirty="0">
                <a:solidFill>
                  <a:srgbClr val="FFFFFF"/>
                </a:solidFill>
              </a:rPr>
              <a:t>Medium term</a:t>
            </a:r>
            <a:endParaRPr lang="en-US" sz="1100" dirty="0"/>
          </a:p>
          <a:p>
            <a:pPr indent="0" marL="0">
              <a:buNone/>
            </a:pPr>
            <a:r>
              <a:rPr lang="en-US" sz="1100" b="1" dirty="0">
                <a:solidFill>
                  <a:srgbClr val="FFFFFF"/>
                </a:solidFill>
              </a:rPr>
              <a:t>(1–3 months)</a:t>
            </a:r>
            <a:endParaRPr lang="en-US" sz="1100" dirty="0"/>
          </a:p>
        </p:txBody>
      </p:sp>
      <p:sp>
        <p:nvSpPr>
          <p:cNvPr id="11" name="Text 9"/>
          <p:cNvSpPr/>
          <p:nvPr/>
        </p:nvSpPr>
        <p:spPr>
          <a:xfrm>
            <a:off x="3493008" y="1691640"/>
            <a:ext cx="2377440" cy="2971800"/>
          </a:xfrm>
          <a:prstGeom prst="rect">
            <a:avLst/>
          </a:prstGeom>
          <a:noFill/>
          <a:ln/>
        </p:spPr>
        <p:txBody>
          <a:bodyPr wrap="square" lIns="0" tIns="0" rIns="0" bIns="0" rtlCol="0" anchor="ctr"/>
          <a:lstStyle/>
          <a:p>
            <a:pPr indent="0" marL="0">
              <a:buNone/>
            </a:pPr>
            <a:r>
              <a:rPr lang="en-US" sz="1000" dirty="0">
                <a:solidFill>
                  <a:srgbClr val="64748B"/>
                </a:solidFill>
              </a:rPr>
              <a:t>Execute planogram changes in priority stores. Brief trade marketing on premium brand placement for Tyrrells/Kettle. Launch targeted multi-buy promotion for Budget–Older Families.</a:t>
            </a:r>
            <a:endParaRPr lang="en-US" sz="1000" dirty="0"/>
          </a:p>
        </p:txBody>
      </p:sp>
      <p:sp>
        <p:nvSpPr>
          <p:cNvPr id="12" name="Shape 10"/>
          <p:cNvSpPr/>
          <p:nvPr/>
        </p:nvSpPr>
        <p:spPr>
          <a:xfrm>
            <a:off x="6254496" y="1005840"/>
            <a:ext cx="2651760" cy="37490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6254496" y="1005840"/>
            <a:ext cx="2651760" cy="594360"/>
          </a:xfrm>
          <a:prstGeom prst="rect">
            <a:avLst/>
          </a:prstGeom>
          <a:solidFill>
            <a:srgbClr val="F4A623"/>
          </a:solidFill>
          <a:ln w="12700">
            <a:solidFill>
              <a:srgbClr val="FFFFFF"/>
            </a:solidFill>
            <a:prstDash val="solid"/>
          </a:ln>
        </p:spPr>
      </p:sp>
      <p:sp>
        <p:nvSpPr>
          <p:cNvPr id="14" name="Text 12"/>
          <p:cNvSpPr/>
          <p:nvPr/>
        </p:nvSpPr>
        <p:spPr>
          <a:xfrm>
            <a:off x="6345936" y="1005840"/>
            <a:ext cx="2468880" cy="594360"/>
          </a:xfrm>
          <a:prstGeom prst="rect">
            <a:avLst/>
          </a:prstGeom>
          <a:noFill/>
          <a:ln/>
        </p:spPr>
        <p:txBody>
          <a:bodyPr wrap="square" lIns="0" tIns="0" rIns="0" bIns="0" rtlCol="0" anchor="ctr"/>
          <a:lstStyle/>
          <a:p>
            <a:pPr indent="0" marL="0">
              <a:buNone/>
            </a:pPr>
            <a:r>
              <a:rPr lang="en-US" sz="1100" b="1" dirty="0">
                <a:solidFill>
                  <a:srgbClr val="FFFFFF"/>
                </a:solidFill>
              </a:rPr>
              <a:t>Long term</a:t>
            </a:r>
            <a:endParaRPr lang="en-US" sz="1100" dirty="0"/>
          </a:p>
          <a:p>
            <a:pPr indent="0" marL="0">
              <a:buNone/>
            </a:pPr>
            <a:r>
              <a:rPr lang="en-US" sz="1100" b="1" dirty="0">
                <a:solidFill>
                  <a:srgbClr val="FFFFFF"/>
                </a:solidFill>
              </a:rPr>
              <a:t>(3–6 months)</a:t>
            </a:r>
            <a:endParaRPr lang="en-US" sz="1100" dirty="0"/>
          </a:p>
        </p:txBody>
      </p:sp>
      <p:sp>
        <p:nvSpPr>
          <p:cNvPr id="15" name="Text 13"/>
          <p:cNvSpPr/>
          <p:nvPr/>
        </p:nvSpPr>
        <p:spPr>
          <a:xfrm>
            <a:off x="6391656" y="1691640"/>
            <a:ext cx="2377440" cy="2971800"/>
          </a:xfrm>
          <a:prstGeom prst="rect">
            <a:avLst/>
          </a:prstGeom>
          <a:noFill/>
          <a:ln/>
        </p:spPr>
        <p:txBody>
          <a:bodyPr wrap="square" lIns="0" tIns="0" rIns="0" bIns="0" rtlCol="0" anchor="ctr"/>
          <a:lstStyle/>
          <a:p>
            <a:pPr indent="0" marL="0">
              <a:buNone/>
            </a:pPr>
            <a:r>
              <a:rPr lang="en-US" sz="1000" dirty="0">
                <a:solidFill>
                  <a:srgbClr val="64748B"/>
                </a:solidFill>
              </a:rPr>
              <a:t>Track post-rollout performance using same control methodology. Assess whether uplift is sustained. Present H2 category strategy to Julia based on updated data.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D9E75"/>
          </a:solidFill>
          <a:ln w="12700">
            <a:solidFill>
              <a:srgbClr val="1D9E75"/>
            </a:solidFill>
            <a:prstDash val="solid"/>
          </a:ln>
        </p:spPr>
      </p:sp>
      <p:sp>
        <p:nvSpPr>
          <p:cNvPr id="3" name="Shape 1"/>
          <p:cNvSpPr/>
          <p:nvPr/>
        </p:nvSpPr>
        <p:spPr>
          <a:xfrm>
            <a:off x="6858000" y="2286000"/>
            <a:ext cx="2743200" cy="2743200"/>
          </a:xfrm>
          <a:prstGeom prst="ellipse">
            <a:avLst/>
          </a:prstGeom>
          <a:solidFill>
            <a:srgbClr val="1D9E75">
              <a:alpha val="12000"/>
            </a:srgbClr>
          </a:solidFill>
          <a:ln w="12700">
            <a:solidFill>
              <a:srgbClr val="1D9E75"/>
            </a:solidFill>
            <a:prstDash val="solid"/>
          </a:ln>
        </p:spPr>
      </p:sp>
      <p:sp>
        <p:nvSpPr>
          <p:cNvPr id="4" name="Text 2"/>
          <p:cNvSpPr/>
          <p:nvPr/>
        </p:nvSpPr>
        <p:spPr>
          <a:xfrm>
            <a:off x="457200" y="1371600"/>
            <a:ext cx="8229600" cy="914400"/>
          </a:xfrm>
          <a:prstGeom prst="rect">
            <a:avLst/>
          </a:prstGeom>
          <a:noFill/>
          <a:ln/>
        </p:spPr>
        <p:txBody>
          <a:bodyPr wrap="square" lIns="0" tIns="0" rIns="0" bIns="0" rtlCol="0" anchor="ctr"/>
          <a:lstStyle/>
          <a:p>
            <a:pPr indent="0" marL="0">
              <a:buNone/>
            </a:pPr>
            <a:r>
              <a:rPr lang="en-US" sz="4400" b="1" dirty="0">
                <a:solidFill>
                  <a:srgbClr val="FFFFFF"/>
                </a:solidFill>
              </a:rPr>
              <a:t>Thank you</a:t>
            </a:r>
            <a:endParaRPr lang="en-US" sz="4400" dirty="0"/>
          </a:p>
        </p:txBody>
      </p:sp>
      <p:sp>
        <p:nvSpPr>
          <p:cNvPr id="5" name="Text 3"/>
          <p:cNvSpPr/>
          <p:nvPr/>
        </p:nvSpPr>
        <p:spPr>
          <a:xfrm>
            <a:off x="457200" y="2377440"/>
            <a:ext cx="8229600" cy="365760"/>
          </a:xfrm>
          <a:prstGeom prst="rect">
            <a:avLst/>
          </a:prstGeom>
          <a:noFill/>
          <a:ln/>
        </p:spPr>
        <p:txBody>
          <a:bodyPr wrap="square" lIns="0" tIns="0" rIns="0" bIns="0" rtlCol="0" anchor="ctr"/>
          <a:lstStyle/>
          <a:p>
            <a:pPr indent="0" marL="0">
              <a:buNone/>
            </a:pPr>
            <a:r>
              <a:rPr lang="en-US" sz="1400" dirty="0">
                <a:solidFill>
                  <a:srgbClr val="9CA3AF"/>
                </a:solidFill>
              </a:rPr>
              <a:t>Dinesh Navaneethan  |  Retail Analytics</a:t>
            </a:r>
            <a:endParaRPr lang="en-US" sz="1400" dirty="0"/>
          </a:p>
        </p:txBody>
      </p:sp>
      <p:sp>
        <p:nvSpPr>
          <p:cNvPr id="6" name="Text 4"/>
          <p:cNvSpPr/>
          <p:nvPr/>
        </p:nvSpPr>
        <p:spPr>
          <a:xfrm>
            <a:off x="457200" y="2834640"/>
            <a:ext cx="8229600" cy="320040"/>
          </a:xfrm>
          <a:prstGeom prst="rect">
            <a:avLst/>
          </a:prstGeom>
          <a:noFill/>
          <a:ln/>
        </p:spPr>
        <p:txBody>
          <a:bodyPr wrap="square" lIns="0" tIns="0" rIns="0" bIns="0" rtlCol="0" anchor="ctr"/>
          <a:lstStyle/>
          <a:p>
            <a:pPr indent="0" marL="0">
              <a:buNone/>
            </a:pPr>
            <a:r>
              <a:rPr lang="en-US" sz="1200" dirty="0">
                <a:solidFill>
                  <a:srgbClr val="1D9E75"/>
                </a:solidFill>
              </a:rPr>
              <a:t>DineshNavaneethan07@gmail.com</a:t>
            </a:r>
            <a:endParaRPr lang="en-US" sz="1200" dirty="0"/>
          </a:p>
        </p:txBody>
      </p:sp>
      <p:sp>
        <p:nvSpPr>
          <p:cNvPr id="7" name="Shape 5"/>
          <p:cNvSpPr/>
          <p:nvPr/>
        </p:nvSpPr>
        <p:spPr>
          <a:xfrm>
            <a:off x="457200" y="3246120"/>
            <a:ext cx="1371600" cy="45720"/>
          </a:xfrm>
          <a:prstGeom prst="rect">
            <a:avLst/>
          </a:prstGeom>
          <a:solidFill>
            <a:srgbClr val="1D9E75"/>
          </a:solidFill>
          <a:ln w="12700">
            <a:solidFill>
              <a:srgbClr val="1D9E75"/>
            </a:solidFill>
            <a:prstDash val="solid"/>
          </a:ln>
        </p:spPr>
      </p:sp>
      <p:sp>
        <p:nvSpPr>
          <p:cNvPr id="8" name="Text 6"/>
          <p:cNvSpPr/>
          <p:nvPr/>
        </p:nvSpPr>
        <p:spPr>
          <a:xfrm>
            <a:off x="457200" y="3429000"/>
            <a:ext cx="8229600" cy="365760"/>
          </a:xfrm>
          <a:prstGeom prst="rect">
            <a:avLst/>
          </a:prstGeom>
          <a:noFill/>
          <a:ln/>
        </p:spPr>
        <p:txBody>
          <a:bodyPr wrap="square" lIns="0" tIns="0" rIns="0" bIns="0" rtlCol="0" anchor="ctr"/>
          <a:lstStyle/>
          <a:p>
            <a:pPr indent="0" marL="0">
              <a:buNone/>
            </a:pPr>
            <a:r>
              <a:rPr lang="en-US" sz="1100" b="1" spc="800" kern="0" dirty="0">
                <a:solidFill>
                  <a:srgbClr val="4B5563"/>
                </a:solidFill>
              </a:rPr>
              <a:t>QUANTIUM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 Category Review: Chips</dc:title>
  <dc:subject>PptxGenJS Presentation</dc:subject>
  <dc:creator>Dinesh Navaneethan</dc:creator>
  <cp:lastModifiedBy>Dinesh Navaneethan</cp:lastModifiedBy>
  <cp:revision>1</cp:revision>
  <dcterms:created xsi:type="dcterms:W3CDTF">2026-04-11T08:28:03Z</dcterms:created>
  <dcterms:modified xsi:type="dcterms:W3CDTF">2026-04-11T08:28:03Z</dcterms:modified>
</cp:coreProperties>
</file>